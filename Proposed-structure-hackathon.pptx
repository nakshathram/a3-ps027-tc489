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sldSz cx="5765800" cy="3244850"/>
  <p:notesSz cx="5765800" cy="324485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86" d="100"/>
          <a:sy n="186" d="100"/>
        </p:scale>
        <p:origin x="451" y="106"/>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432435" y="1005903"/>
            <a:ext cx="4900930" cy="681418"/>
          </a:xfrm>
          <a:prstGeom prst="rect">
            <a:avLst/>
          </a:prstGeom>
        </p:spPr>
        <p:txBody>
          <a:bodyPr wrap="square" lIns="0" tIns="0" rIns="0" bIns="0">
            <a:spAutoFit/>
          </a:bodyPr>
          <a:lstStyle>
            <a:lvl1pPr>
              <a:defRPr sz="1400" b="1" i="0">
                <a:solidFill>
                  <a:srgbClr val="0000DC"/>
                </a:solidFill>
                <a:latin typeface="Century Gothic"/>
                <a:cs typeface="Century Gothic"/>
              </a:defRPr>
            </a:lvl1pPr>
          </a:lstStyle>
          <a:p>
            <a:endParaRPr/>
          </a:p>
        </p:txBody>
      </p:sp>
      <p:sp>
        <p:nvSpPr>
          <p:cNvPr id="3" name="Holder 3"/>
          <p:cNvSpPr>
            <a:spLocks noGrp="1"/>
          </p:cNvSpPr>
          <p:nvPr>
            <p:ph type="subTitle" idx="4"/>
          </p:nvPr>
        </p:nvSpPr>
        <p:spPr>
          <a:xfrm>
            <a:off x="864870" y="1817116"/>
            <a:ext cx="4036060" cy="811212"/>
          </a:xfrm>
          <a:prstGeom prst="rect">
            <a:avLst/>
          </a:prstGeom>
        </p:spPr>
        <p:txBody>
          <a:bodyPr wrap="square" lIns="0" tIns="0" rIns="0" bIns="0">
            <a:spAutoFit/>
          </a:bodyPr>
          <a:lstStyle>
            <a:lvl1pPr>
              <a:defRPr sz="1100" b="0" i="0">
                <a:solidFill>
                  <a:schemeClr val="tx1"/>
                </a:solidFill>
                <a:latin typeface="Century Gothic"/>
                <a:cs typeface="Century Gothic"/>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defRPr sz="600" b="0" i="0">
                <a:solidFill>
                  <a:srgbClr val="0000DC"/>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0000DC"/>
                </a:solidFill>
                <a:latin typeface="Century Gothic"/>
                <a:cs typeface="Century Gothic"/>
              </a:defRPr>
            </a:lvl1pPr>
          </a:lstStyle>
          <a:p>
            <a:endParaRPr/>
          </a:p>
        </p:txBody>
      </p:sp>
      <p:sp>
        <p:nvSpPr>
          <p:cNvPr id="3" name="Holder 3"/>
          <p:cNvSpPr>
            <a:spLocks noGrp="1"/>
          </p:cNvSpPr>
          <p:nvPr>
            <p:ph type="body" idx="1"/>
          </p:nvPr>
        </p:nvSpPr>
        <p:spPr/>
        <p:txBody>
          <a:bodyPr lIns="0" tIns="0" rIns="0" bIns="0"/>
          <a:lstStyle>
            <a:lvl1pPr>
              <a:defRPr sz="1100" b="0" i="0">
                <a:solidFill>
                  <a:schemeClr val="tx1"/>
                </a:solidFill>
                <a:latin typeface="Century Gothic"/>
                <a:cs typeface="Century Gothic"/>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p:txBody>
          <a:bodyPr lIns="0" tIns="0" rIns="0" bIns="0"/>
          <a:lstStyle>
            <a:lvl1pPr>
              <a:defRPr sz="600" b="0" i="0">
                <a:solidFill>
                  <a:srgbClr val="0000DC"/>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0000DC"/>
                </a:solidFill>
                <a:latin typeface="Century Gothic"/>
                <a:cs typeface="Century Gothic"/>
              </a:defRPr>
            </a:lvl1pPr>
          </a:lstStyle>
          <a:p>
            <a:endParaRPr/>
          </a:p>
        </p:txBody>
      </p:sp>
      <p:sp>
        <p:nvSpPr>
          <p:cNvPr id="3" name="Holder 3"/>
          <p:cNvSpPr>
            <a:spLocks noGrp="1"/>
          </p:cNvSpPr>
          <p:nvPr>
            <p:ph sz="half" idx="2"/>
          </p:nvPr>
        </p:nvSpPr>
        <p:spPr>
          <a:xfrm>
            <a:off x="288290" y="746315"/>
            <a:ext cx="2508123" cy="2141601"/>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2969387" y="746315"/>
            <a:ext cx="2508123" cy="2141601"/>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7" name="Holder 7"/>
          <p:cNvSpPr>
            <a:spLocks noGrp="1"/>
          </p:cNvSpPr>
          <p:nvPr>
            <p:ph type="sldNum" sz="quarter" idx="7"/>
          </p:nvPr>
        </p:nvSpPr>
        <p:spPr/>
        <p:txBody>
          <a:bodyPr lIns="0" tIns="0" rIns="0" bIns="0"/>
          <a:lstStyle>
            <a:lvl1pPr>
              <a:defRPr sz="600" b="0" i="0">
                <a:solidFill>
                  <a:srgbClr val="0000DC"/>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400" b="1" i="0">
                <a:solidFill>
                  <a:srgbClr val="0000DC"/>
                </a:solidFill>
                <a:latin typeface="Century Gothic"/>
                <a:cs typeface="Century Gothic"/>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5" name="Holder 5"/>
          <p:cNvSpPr>
            <a:spLocks noGrp="1"/>
          </p:cNvSpPr>
          <p:nvPr>
            <p:ph type="sldNum" sz="quarter" idx="7"/>
          </p:nvPr>
        </p:nvSpPr>
        <p:spPr/>
        <p:txBody>
          <a:bodyPr lIns="0" tIns="0" rIns="0" bIns="0"/>
          <a:lstStyle>
            <a:lvl1pPr>
              <a:defRPr sz="600" b="0" i="0">
                <a:solidFill>
                  <a:srgbClr val="0000DC"/>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4" name="Holder 4"/>
          <p:cNvSpPr>
            <a:spLocks noGrp="1"/>
          </p:cNvSpPr>
          <p:nvPr>
            <p:ph type="sldNum" sz="quarter" idx="7"/>
          </p:nvPr>
        </p:nvSpPr>
        <p:spPr/>
        <p:txBody>
          <a:bodyPr lIns="0" tIns="0" rIns="0" bIns="0"/>
          <a:lstStyle>
            <a:lvl1pPr>
              <a:defRPr sz="600" b="0" i="0">
                <a:solidFill>
                  <a:srgbClr val="0000DC"/>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239293" y="198244"/>
            <a:ext cx="1115060" cy="244475"/>
          </a:xfrm>
          <a:prstGeom prst="rect">
            <a:avLst/>
          </a:prstGeom>
        </p:spPr>
        <p:txBody>
          <a:bodyPr wrap="square" lIns="0" tIns="0" rIns="0" bIns="0">
            <a:spAutoFit/>
          </a:bodyPr>
          <a:lstStyle>
            <a:lvl1pPr>
              <a:defRPr sz="1400" b="1" i="0">
                <a:solidFill>
                  <a:srgbClr val="0000DC"/>
                </a:solidFill>
                <a:latin typeface="Century Gothic"/>
                <a:cs typeface="Century Gothic"/>
              </a:defRPr>
            </a:lvl1pPr>
          </a:lstStyle>
          <a:p>
            <a:endParaRPr/>
          </a:p>
        </p:txBody>
      </p:sp>
      <p:sp>
        <p:nvSpPr>
          <p:cNvPr id="3" name="Holder 3"/>
          <p:cNvSpPr>
            <a:spLocks noGrp="1"/>
          </p:cNvSpPr>
          <p:nvPr>
            <p:ph type="body" idx="1"/>
          </p:nvPr>
        </p:nvSpPr>
        <p:spPr>
          <a:xfrm>
            <a:off x="239293" y="596822"/>
            <a:ext cx="5273675" cy="765175"/>
          </a:xfrm>
          <a:prstGeom prst="rect">
            <a:avLst/>
          </a:prstGeom>
        </p:spPr>
        <p:txBody>
          <a:bodyPr wrap="square" lIns="0" tIns="0" rIns="0" bIns="0">
            <a:spAutoFit/>
          </a:bodyPr>
          <a:lstStyle>
            <a:lvl1pPr>
              <a:defRPr sz="1100" b="0" i="0">
                <a:solidFill>
                  <a:schemeClr val="tx1"/>
                </a:solidFill>
                <a:latin typeface="Century Gothic"/>
                <a:cs typeface="Century Gothic"/>
              </a:defRPr>
            </a:lvl1pPr>
          </a:lstStyle>
          <a:p>
            <a:endParaRPr/>
          </a:p>
        </p:txBody>
      </p:sp>
      <p:sp>
        <p:nvSpPr>
          <p:cNvPr id="4" name="Holder 4"/>
          <p:cNvSpPr>
            <a:spLocks noGrp="1"/>
          </p:cNvSpPr>
          <p:nvPr>
            <p:ph type="ftr" sz="quarter" idx="5"/>
          </p:nvPr>
        </p:nvSpPr>
        <p:spPr>
          <a:xfrm>
            <a:off x="1960372" y="3017710"/>
            <a:ext cx="1845056" cy="162242"/>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288290" y="3017710"/>
            <a:ext cx="1326134" cy="162242"/>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10/14/2026</a:t>
            </a:fld>
            <a:endParaRPr lang="en-US"/>
          </a:p>
        </p:txBody>
      </p:sp>
      <p:sp>
        <p:nvSpPr>
          <p:cNvPr id="6" name="Holder 6"/>
          <p:cNvSpPr>
            <a:spLocks noGrp="1"/>
          </p:cNvSpPr>
          <p:nvPr>
            <p:ph type="sldNum" sz="quarter" idx="7"/>
          </p:nvPr>
        </p:nvSpPr>
        <p:spPr>
          <a:xfrm>
            <a:off x="5234978" y="3092784"/>
            <a:ext cx="400050" cy="120650"/>
          </a:xfrm>
          <a:prstGeom prst="rect">
            <a:avLst/>
          </a:prstGeom>
        </p:spPr>
        <p:txBody>
          <a:bodyPr wrap="square" lIns="0" tIns="0" rIns="0" bIns="0">
            <a:spAutoFit/>
          </a:bodyPr>
          <a:lstStyle>
            <a:lvl1pPr>
              <a:defRPr sz="600" b="0" i="0">
                <a:solidFill>
                  <a:srgbClr val="0000DC"/>
                </a:solidFill>
                <a:latin typeface="Century Gothic"/>
                <a:cs typeface="Century Gothic"/>
              </a:defRPr>
            </a:lvl1pPr>
          </a:lstStyle>
          <a:p>
            <a:pPr marL="17780">
              <a:lnSpc>
                <a:spcPct val="100000"/>
              </a:lnSpc>
              <a:spcBef>
                <a:spcPts val="95"/>
              </a:spcBef>
            </a:pPr>
            <a:fld id="{81D60167-4931-47E6-BA6A-407CBD079E47}" type="slidenum">
              <a:rPr dirty="0"/>
              <a:t>‹#›</a:t>
            </a:fld>
            <a:r>
              <a:rPr spc="5" dirty="0"/>
              <a:t> </a:t>
            </a:r>
            <a:r>
              <a:rPr dirty="0"/>
              <a:t>/</a:t>
            </a:r>
            <a:r>
              <a:rPr spc="10" dirty="0"/>
              <a:t> </a:t>
            </a:r>
            <a:r>
              <a:rPr spc="-25" dirty="0"/>
              <a:t>11</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NakshathraM/A3-PS027-TC489" TargetMode="External"/><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hyperlink" Target="mailto:suressvarb@karunya.edu.in" TargetMode="External"/><Relationship Id="rId4" Type="http://schemas.openxmlformats.org/officeDocument/2006/relationships/hyperlink" Target="mailto:nakshathram@karunya.edu.in" TargetMode="External"/></Relationships>
</file>

<file path=ppt/slides/_rels/slide2.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xml"/></Relationships>
</file>

<file path=ppt/slides/_rels/slide4.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xml"/></Relationships>
</file>

<file path=ppt/slides/_rels/slide5.xml.rels><?xml version="1.0" encoding="UTF-8" standalone="yes"?>
<Relationships xmlns="http://schemas.openxmlformats.org/package/2006/relationships"><Relationship Id="rId3" Type="http://schemas.openxmlformats.org/officeDocument/2006/relationships/slide" Target="slide5.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xml"/></Relationships>
</file>

<file path=ppt/slides/_rels/slide6.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2.xml"/><Relationship Id="rId1" Type="http://schemas.openxmlformats.org/officeDocument/2006/relationships/slideLayout" Target="../slideLayouts/slideLayout5.xml"/><Relationship Id="rId4" Type="http://schemas.openxmlformats.org/officeDocument/2006/relationships/slide" Target="slide1.xml"/></Relationships>
</file>

<file path=ppt/slides/_rels/slide7.xml.rels><?xml version="1.0" encoding="UTF-8" standalone="yes"?>
<Relationships xmlns="http://schemas.openxmlformats.org/package/2006/relationships"><Relationship Id="rId3" Type="http://schemas.openxmlformats.org/officeDocument/2006/relationships/slide" Target="slide7.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image" Target="../media/image2.png"/><Relationship Id="rId4" Type="http://schemas.openxmlformats.org/officeDocument/2006/relationships/slide" Target="slide1.xml"/></Relationships>
</file>

<file path=ppt/slides/_rels/slide8.xml.rels><?xml version="1.0" encoding="UTF-8" standalone="yes"?>
<Relationships xmlns="http://schemas.openxmlformats.org/package/2006/relationships"><Relationship Id="rId3" Type="http://schemas.openxmlformats.org/officeDocument/2006/relationships/slide" Target="slide8.xml"/><Relationship Id="rId2" Type="http://schemas.openxmlformats.org/officeDocument/2006/relationships/slide" Target="slide2.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slide" Target="slide1.xml"/></Relationships>
</file>

<file path=ppt/slides/_rels/slide9.xml.rels><?xml version="1.0" encoding="UTF-8" standalone="yes"?>
<Relationships xmlns="http://schemas.openxmlformats.org/package/2006/relationships"><Relationship Id="rId3" Type="http://schemas.openxmlformats.org/officeDocument/2006/relationships/slide" Target="slide9.xml"/><Relationship Id="rId2" Type="http://schemas.openxmlformats.org/officeDocument/2006/relationships/slide" Target="slide2.xml"/><Relationship Id="rId1" Type="http://schemas.openxmlformats.org/officeDocument/2006/relationships/slideLayout" Target="../slideLayouts/slideLayout5.xml"/><Relationship Id="rId5" Type="http://schemas.openxmlformats.org/officeDocument/2006/relationships/image" Target="../media/image4.png"/><Relationship Id="rId4" Type="http://schemas.openxmlformats.org/officeDocument/2006/relationships/slide" Target="slide1.xml"/></Relationships>
</file>

<file path=ppt/slides/_rels/slide10.xml.rels><?xml version="1.0" encoding="UTF-8" standalone="yes"?>
<Relationships xmlns="http://schemas.openxmlformats.org/package/2006/relationships"><Relationship Id="rId3" Type="http://schemas.openxmlformats.org/officeDocument/2006/relationships/slide" Target="slide1.xml"/><Relationship Id="rId2" Type="http://schemas.openxmlformats.org/officeDocument/2006/relationships/slide" Target="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251993" y="252004"/>
            <a:ext cx="508223" cy="503988"/>
          </a:xfrm>
          <a:prstGeom prst="rect">
            <a:avLst/>
          </a:prstGeom>
        </p:spPr>
      </p:pic>
      <p:sp>
        <p:nvSpPr>
          <p:cNvPr id="3" name="object 3" descr="$PPTXTitle"/>
          <p:cNvSpPr txBox="1">
            <a:spLocks noGrp="1"/>
          </p:cNvSpPr>
          <p:nvPr>
            <p:ph type="title"/>
          </p:nvPr>
        </p:nvSpPr>
        <p:spPr>
          <a:xfrm>
            <a:off x="239293" y="1165225"/>
            <a:ext cx="4429125" cy="716222"/>
          </a:xfrm>
          <a:prstGeom prst="rect">
            <a:avLst/>
          </a:prstGeom>
        </p:spPr>
        <p:txBody>
          <a:bodyPr vert="horz" wrap="square" lIns="0" tIns="99695" rIns="0" bIns="0" rtlCol="0">
            <a:spAutoFit/>
          </a:bodyPr>
          <a:lstStyle/>
          <a:p>
            <a:pPr marL="12700">
              <a:spcBef>
                <a:spcPts val="385"/>
              </a:spcBef>
            </a:pPr>
            <a:r>
              <a:rPr lang="en-US" u="sng" dirty="0">
                <a:hlinkClick r:id="rId3"/>
              </a:rPr>
              <a:t>A3-PS027-TC489</a:t>
            </a:r>
            <a:br>
              <a:rPr lang="en-US" u="sng" dirty="0"/>
            </a:br>
            <a:r>
              <a:rPr lang="en-US" b="0" dirty="0">
                <a:solidFill>
                  <a:schemeClr val="tx1"/>
                </a:solidFill>
              </a:rPr>
              <a:t>IPv6 Website and Dependency Readiness Auditor</a:t>
            </a:r>
            <a:br>
              <a:rPr lang="en-US" b="0" dirty="0"/>
            </a:br>
            <a:endParaRPr sz="1200" dirty="0">
              <a:latin typeface="Century Gothic"/>
              <a:cs typeface="Century Gothic"/>
            </a:endParaRPr>
          </a:p>
        </p:txBody>
      </p:sp>
      <p:sp>
        <p:nvSpPr>
          <p:cNvPr id="4" name="object 4"/>
          <p:cNvSpPr txBox="1"/>
          <p:nvPr/>
        </p:nvSpPr>
        <p:spPr>
          <a:xfrm>
            <a:off x="239293" y="1927225"/>
            <a:ext cx="2796006" cy="1204816"/>
          </a:xfrm>
          <a:prstGeom prst="rect">
            <a:avLst/>
          </a:prstGeom>
        </p:spPr>
        <p:txBody>
          <a:bodyPr vert="horz" wrap="square" lIns="0" tIns="32384" rIns="0" bIns="0" rtlCol="0">
            <a:spAutoFit/>
          </a:bodyPr>
          <a:lstStyle/>
          <a:p>
            <a:pPr marL="12700">
              <a:lnSpc>
                <a:spcPct val="100000"/>
              </a:lnSpc>
              <a:spcBef>
                <a:spcPts val="254"/>
              </a:spcBef>
            </a:pPr>
            <a:r>
              <a:rPr lang="en-US" sz="1000" b="1" spc="-100" dirty="0">
                <a:latin typeface="Century Gothic"/>
                <a:cs typeface="Century Gothic"/>
              </a:rPr>
              <a:t>NAKSHATHRA M</a:t>
            </a:r>
            <a:br>
              <a:rPr lang="en-US" sz="1000" b="1" spc="-100" dirty="0">
                <a:latin typeface="Century Gothic"/>
                <a:cs typeface="Century Gothic"/>
              </a:rPr>
            </a:br>
            <a:r>
              <a:rPr lang="en-US" sz="1000" b="1" spc="-100" dirty="0">
                <a:latin typeface="Century Gothic"/>
                <a:cs typeface="Century Gothic"/>
              </a:rPr>
              <a:t>SURESSVAR B</a:t>
            </a:r>
            <a:endParaRPr sz="1000" dirty="0">
              <a:latin typeface="Century Gothic"/>
              <a:cs typeface="Century Gothic"/>
            </a:endParaRPr>
          </a:p>
          <a:p>
            <a:pPr marL="12700">
              <a:lnSpc>
                <a:spcPct val="100000"/>
              </a:lnSpc>
              <a:spcBef>
                <a:spcPts val="155"/>
              </a:spcBef>
            </a:pPr>
            <a:r>
              <a:rPr lang="en-US" sz="1000" b="1" spc="-65" dirty="0">
                <a:latin typeface="Century Gothic"/>
                <a:cs typeface="Century Gothic"/>
                <a:hlinkClick r:id="rId4"/>
              </a:rPr>
              <a:t>nakshathram@karunya.edu.in</a:t>
            </a:r>
            <a:endParaRPr lang="en-US" sz="1000" b="1" spc="-65" dirty="0">
              <a:latin typeface="Century Gothic"/>
              <a:cs typeface="Century Gothic"/>
            </a:endParaRPr>
          </a:p>
          <a:p>
            <a:pPr marL="12700">
              <a:lnSpc>
                <a:spcPct val="100000"/>
              </a:lnSpc>
              <a:spcBef>
                <a:spcPts val="155"/>
              </a:spcBef>
            </a:pPr>
            <a:r>
              <a:rPr lang="en-US" sz="1000" b="1" spc="-65" dirty="0">
                <a:latin typeface="Century Gothic"/>
                <a:cs typeface="Century Gothic"/>
                <a:hlinkClick r:id="rId5"/>
              </a:rPr>
              <a:t>suressvarb@karunya.edu.in</a:t>
            </a:r>
            <a:endParaRPr lang="en-US" sz="1000" b="1" spc="-65" dirty="0">
              <a:latin typeface="Century Gothic"/>
              <a:cs typeface="Century Gothic"/>
            </a:endParaRPr>
          </a:p>
          <a:p>
            <a:pPr marL="12700">
              <a:lnSpc>
                <a:spcPct val="100000"/>
              </a:lnSpc>
              <a:spcBef>
                <a:spcPts val="994"/>
              </a:spcBef>
            </a:pPr>
            <a:r>
              <a:rPr sz="800" dirty="0">
                <a:latin typeface="Century Gothic"/>
                <a:cs typeface="Century Gothic"/>
              </a:rPr>
              <a:t>AIORI</a:t>
            </a:r>
            <a:r>
              <a:rPr sz="800" spc="50" dirty="0">
                <a:latin typeface="Century Gothic"/>
                <a:cs typeface="Century Gothic"/>
              </a:rPr>
              <a:t> </a:t>
            </a:r>
            <a:r>
              <a:rPr sz="800" spc="-10" dirty="0">
                <a:latin typeface="Century Gothic"/>
                <a:cs typeface="Century Gothic"/>
              </a:rPr>
              <a:t>Hackathon</a:t>
            </a:r>
            <a:r>
              <a:rPr sz="800" spc="55" dirty="0">
                <a:latin typeface="Century Gothic"/>
                <a:cs typeface="Century Gothic"/>
              </a:rPr>
              <a:t> </a:t>
            </a:r>
            <a:r>
              <a:rPr sz="800" spc="-50" dirty="0">
                <a:latin typeface="Century Gothic"/>
                <a:cs typeface="Century Gothic"/>
              </a:rPr>
              <a:t>3</a:t>
            </a:r>
            <a:endParaRPr sz="800" dirty="0">
              <a:latin typeface="Century Gothic"/>
              <a:cs typeface="Century Gothic"/>
            </a:endParaRPr>
          </a:p>
          <a:p>
            <a:pPr marL="12700">
              <a:lnSpc>
                <a:spcPct val="100000"/>
              </a:lnSpc>
              <a:spcBef>
                <a:spcPts val="935"/>
              </a:spcBef>
            </a:pPr>
            <a:r>
              <a:rPr sz="900" spc="-35" dirty="0">
                <a:latin typeface="Century Gothic"/>
                <a:cs typeface="Century Gothic"/>
              </a:rPr>
              <a:t>October</a:t>
            </a:r>
            <a:r>
              <a:rPr sz="900" spc="-10" dirty="0">
                <a:latin typeface="Century Gothic"/>
                <a:cs typeface="Century Gothic"/>
              </a:rPr>
              <a:t> </a:t>
            </a:r>
            <a:r>
              <a:rPr lang="en-US" sz="900" spc="-10" dirty="0">
                <a:latin typeface="Century Gothic"/>
                <a:cs typeface="Century Gothic"/>
              </a:rPr>
              <a:t>14</a:t>
            </a:r>
            <a:r>
              <a:rPr sz="900" dirty="0">
                <a:latin typeface="Century Gothic"/>
                <a:cs typeface="Century Gothic"/>
              </a:rPr>
              <a:t>,</a:t>
            </a:r>
            <a:r>
              <a:rPr sz="900" spc="-5" dirty="0">
                <a:latin typeface="Century Gothic"/>
                <a:cs typeface="Century Gothic"/>
              </a:rPr>
              <a:t> </a:t>
            </a:r>
            <a:r>
              <a:rPr sz="900" spc="-20" dirty="0">
                <a:latin typeface="Century Gothic"/>
                <a:cs typeface="Century Gothic"/>
              </a:rPr>
              <a:t>2026</a:t>
            </a:r>
            <a:endParaRPr sz="900" dirty="0">
              <a:latin typeface="Century Gothic"/>
              <a:cs typeface="Century Gothic"/>
            </a:endParaRPr>
          </a:p>
        </p:txBody>
      </p:sp>
    </p:spTree>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333375"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2" action="ppaction://hlinksldjump"/>
              </a:rPr>
              <a:t>Abstract</a:t>
            </a:r>
            <a:endParaRPr sz="600">
              <a:latin typeface="Century Gothic"/>
              <a:cs typeface="Century Gothic"/>
            </a:endParaRPr>
          </a:p>
        </p:txBody>
      </p:sp>
      <p:sp>
        <p:nvSpPr>
          <p:cNvPr id="4" name="object 4"/>
          <p:cNvSpPr txBox="1"/>
          <p:nvPr/>
        </p:nvSpPr>
        <p:spPr>
          <a:xfrm>
            <a:off x="239293" y="198244"/>
            <a:ext cx="1610360" cy="244475"/>
          </a:xfrm>
          <a:prstGeom prst="rect">
            <a:avLst/>
          </a:prstGeom>
        </p:spPr>
        <p:txBody>
          <a:bodyPr vert="horz" wrap="square" lIns="0" tIns="17145" rIns="0" bIns="0" rtlCol="0">
            <a:spAutoFit/>
          </a:bodyPr>
          <a:lstStyle/>
          <a:p>
            <a:pPr marL="12700">
              <a:lnSpc>
                <a:spcPct val="100000"/>
              </a:lnSpc>
              <a:spcBef>
                <a:spcPts val="135"/>
              </a:spcBef>
            </a:pPr>
            <a:r>
              <a:rPr sz="1400" b="1" spc="-80" dirty="0">
                <a:solidFill>
                  <a:srgbClr val="0000DC"/>
                </a:solidFill>
                <a:latin typeface="Century Gothic"/>
                <a:cs typeface="Century Gothic"/>
              </a:rPr>
              <a:t>Problem</a:t>
            </a:r>
            <a:r>
              <a:rPr sz="1400" b="1" spc="30" dirty="0">
                <a:solidFill>
                  <a:srgbClr val="0000DC"/>
                </a:solidFill>
                <a:latin typeface="Century Gothic"/>
                <a:cs typeface="Century Gothic"/>
              </a:rPr>
              <a:t> </a:t>
            </a:r>
            <a:r>
              <a:rPr sz="1400" b="1" spc="-55" dirty="0">
                <a:solidFill>
                  <a:srgbClr val="0000DC"/>
                </a:solidFill>
                <a:latin typeface="Century Gothic"/>
                <a:cs typeface="Century Gothic"/>
              </a:rPr>
              <a:t>Description</a:t>
            </a:r>
            <a:endParaRPr sz="1400">
              <a:latin typeface="Century Gothic"/>
              <a:cs typeface="Century Gothic"/>
            </a:endParaRPr>
          </a:p>
        </p:txBody>
      </p:sp>
      <p:sp>
        <p:nvSpPr>
          <p:cNvPr id="5" name="object 5"/>
          <p:cNvSpPr txBox="1"/>
          <p:nvPr/>
        </p:nvSpPr>
        <p:spPr>
          <a:xfrm>
            <a:off x="239293" y="960550"/>
            <a:ext cx="5205730" cy="1912062"/>
          </a:xfrm>
          <a:prstGeom prst="rect">
            <a:avLst/>
          </a:prstGeom>
        </p:spPr>
        <p:txBody>
          <a:bodyPr vert="horz" wrap="square" lIns="0" tIns="11430" rIns="0" bIns="0" rtlCol="0">
            <a:spAutoFit/>
          </a:bodyPr>
          <a:lstStyle/>
          <a:p>
            <a:pPr marL="12700">
              <a:lnSpc>
                <a:spcPct val="100000"/>
              </a:lnSpc>
              <a:spcBef>
                <a:spcPts val="90"/>
              </a:spcBef>
            </a:pPr>
            <a:r>
              <a:rPr lang="en-US" sz="1100" dirty="0"/>
              <a:t>• Readiness checks that focus only on the root domain can overlook problems in supporting services and third-party dependencies.</a:t>
            </a:r>
          </a:p>
          <a:p>
            <a:pPr marL="12700">
              <a:lnSpc>
                <a:spcPct val="100000"/>
              </a:lnSpc>
              <a:spcBef>
                <a:spcPts val="90"/>
              </a:spcBef>
            </a:pPr>
            <a:r>
              <a:rPr lang="en-US" sz="1100" dirty="0"/>
              <a:t> • DNS records, transport connectivity, HTTPS configuration, and application-level dependencies provide different kinds of evidence and should not be treated as interchangeable.</a:t>
            </a:r>
          </a:p>
          <a:p>
            <a:pPr marL="12700">
              <a:lnSpc>
                <a:spcPct val="100000"/>
              </a:lnSpc>
              <a:spcBef>
                <a:spcPts val="90"/>
              </a:spcBef>
            </a:pPr>
            <a:r>
              <a:rPr lang="en-US" sz="1100" dirty="0"/>
              <a:t> • Manual troubleshooting requires users to combine outputs from multiple tools and interpret them consistently.</a:t>
            </a:r>
          </a:p>
          <a:p>
            <a:pPr marL="12700">
              <a:lnSpc>
                <a:spcPct val="100000"/>
              </a:lnSpc>
              <a:spcBef>
                <a:spcPts val="90"/>
              </a:spcBef>
            </a:pPr>
            <a:r>
              <a:rPr lang="en-US" sz="1100" dirty="0"/>
              <a:t> • A raw list of technical warnings does not always explain the evidence, practical impact, or recommended order of remediation. • Audit results must clearly communicate uncertainty: an unobserved or blocked endpoint should not automatically be labelled IPv6-incompatible.</a:t>
            </a:r>
            <a:endParaRPr sz="1100" dirty="0">
              <a:latin typeface="Century Gothic"/>
              <a:cs typeface="Century Gothic"/>
            </a:endParaRPr>
          </a:p>
        </p:txBody>
      </p:sp>
      <p:sp>
        <p:nvSpPr>
          <p:cNvPr id="6" name="object 6"/>
          <p:cNvSpPr txBox="1"/>
          <p:nvPr/>
        </p:nvSpPr>
        <p:spPr>
          <a:xfrm>
            <a:off x="239293" y="3050083"/>
            <a:ext cx="1608455" cy="207645"/>
          </a:xfrm>
          <a:prstGeom prst="rect">
            <a:avLst/>
          </a:prstGeom>
        </p:spPr>
        <p:txBody>
          <a:bodyPr vert="horz" wrap="square" lIns="0" tIns="0" rIns="0" bIns="0" rtlCol="0">
            <a:spAutoFit/>
          </a:bodyPr>
          <a:lstStyle/>
          <a:p>
            <a:pPr marL="12700">
              <a:lnSpc>
                <a:spcPts val="1315"/>
              </a:lnSpc>
            </a:pPr>
            <a:r>
              <a:rPr sz="600" spc="-60" dirty="0">
                <a:solidFill>
                  <a:srgbClr val="0000DC"/>
                </a:solidFill>
                <a:latin typeface="Century Gothic"/>
                <a:cs typeface="Century Gothic"/>
              </a:rPr>
              <a:t>J.</a:t>
            </a:r>
            <a:r>
              <a:rPr sz="600" spc="10" dirty="0">
                <a:solidFill>
                  <a:srgbClr val="0000DC"/>
                </a:solidFill>
                <a:latin typeface="Century Gothic"/>
                <a:cs typeface="Century Gothic"/>
              </a:rPr>
              <a:t> </a:t>
            </a:r>
            <a:r>
              <a:rPr sz="600" spc="-20" dirty="0">
                <a:solidFill>
                  <a:srgbClr val="0000DC"/>
                </a:solidFill>
                <a:latin typeface="Century Gothic"/>
                <a:cs typeface="Century Gothic"/>
              </a:rPr>
              <a:t>Doe</a:t>
            </a:r>
            <a:r>
              <a:rPr sz="600"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b="1" dirty="0">
                <a:solidFill>
                  <a:srgbClr val="0000DC"/>
                </a:solidFill>
                <a:latin typeface="Century Gothic"/>
                <a:cs typeface="Century Gothic"/>
                <a:hlinkClick r:id="rId3" action="ppaction://hlinksldjump"/>
              </a:rPr>
              <a:t>A3-</a:t>
            </a:r>
            <a:r>
              <a:rPr sz="600" b="1" spc="-10" dirty="0">
                <a:solidFill>
                  <a:srgbClr val="0000DC"/>
                </a:solidFill>
                <a:latin typeface="Century Gothic"/>
                <a:cs typeface="Century Gothic"/>
                <a:hlinkClick r:id="rId3" action="ppaction://hlinksldjump"/>
              </a:rPr>
              <a:t>PS001-</a:t>
            </a:r>
            <a:r>
              <a:rPr sz="600" b="1" dirty="0">
                <a:solidFill>
                  <a:srgbClr val="0000DC"/>
                </a:solidFill>
                <a:latin typeface="Century Gothic"/>
                <a:cs typeface="Century Gothic"/>
                <a:hlinkClick r:id="rId3" action="ppaction://hlinksldjump"/>
              </a:rPr>
              <a:t>TC001</a:t>
            </a:r>
            <a:r>
              <a:rPr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sz="600" dirty="0">
                <a:solidFill>
                  <a:srgbClr val="0000DC"/>
                </a:solidFill>
                <a:latin typeface="Century Gothic"/>
                <a:cs typeface="Century Gothic"/>
              </a:rPr>
              <a:t>5,</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2</a:t>
            </a:fld>
            <a:r>
              <a:rPr spc="5" dirty="0"/>
              <a:t> </a:t>
            </a:r>
            <a:r>
              <a:rPr dirty="0"/>
              <a:t>/</a:t>
            </a:r>
            <a:r>
              <a:rPr spc="10" dirty="0"/>
              <a:t> </a:t>
            </a:r>
            <a:r>
              <a:rPr spc="-25" dirty="0"/>
              <a:t>11</a:t>
            </a:r>
          </a:p>
        </p:txBody>
      </p:sp>
    </p:spTree>
  </p:cSld>
  <p:clrMapOvr>
    <a:masterClrMapping/>
  </p:clrMapOvr>
  <p:transition>
    <p:cut/>
  </p:transition>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467359"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3" action="ppaction://hlinksldjump"/>
              </a:rPr>
              <a:t>Background</a:t>
            </a:r>
            <a:endParaRPr sz="600">
              <a:latin typeface="Century Gothic"/>
              <a:cs typeface="Century Gothic"/>
            </a:endParaRPr>
          </a:p>
        </p:txBody>
      </p:sp>
      <p:sp>
        <p:nvSpPr>
          <p:cNvPr id="4" name="object 4"/>
          <p:cNvSpPr txBox="1"/>
          <p:nvPr/>
        </p:nvSpPr>
        <p:spPr>
          <a:xfrm>
            <a:off x="239293" y="198244"/>
            <a:ext cx="944880" cy="244475"/>
          </a:xfrm>
          <a:prstGeom prst="rect">
            <a:avLst/>
          </a:prstGeom>
        </p:spPr>
        <p:txBody>
          <a:bodyPr vert="horz" wrap="square" lIns="0" tIns="17145" rIns="0" bIns="0" rtlCol="0">
            <a:spAutoFit/>
          </a:bodyPr>
          <a:lstStyle/>
          <a:p>
            <a:pPr marL="12700">
              <a:lnSpc>
                <a:spcPct val="100000"/>
              </a:lnSpc>
              <a:spcBef>
                <a:spcPts val="135"/>
              </a:spcBef>
            </a:pPr>
            <a:r>
              <a:rPr sz="1400" b="1" spc="-110" dirty="0">
                <a:solidFill>
                  <a:srgbClr val="0000DC"/>
                </a:solidFill>
                <a:latin typeface="Century Gothic"/>
                <a:cs typeface="Century Gothic"/>
              </a:rPr>
              <a:t>Background</a:t>
            </a:r>
            <a:endParaRPr sz="1400">
              <a:latin typeface="Century Gothic"/>
              <a:cs typeface="Century Gothic"/>
            </a:endParaRPr>
          </a:p>
        </p:txBody>
      </p:sp>
      <p:sp>
        <p:nvSpPr>
          <p:cNvPr id="5" name="object 5"/>
          <p:cNvSpPr txBox="1"/>
          <p:nvPr/>
        </p:nvSpPr>
        <p:spPr>
          <a:xfrm>
            <a:off x="239293" y="512366"/>
            <a:ext cx="5281295" cy="2315377"/>
          </a:xfrm>
          <a:prstGeom prst="rect">
            <a:avLst/>
          </a:prstGeom>
        </p:spPr>
        <p:txBody>
          <a:bodyPr vert="horz" wrap="square" lIns="0" tIns="6985" rIns="0" bIns="0" rtlCol="0">
            <a:spAutoFit/>
          </a:bodyPr>
          <a:lstStyle/>
          <a:p>
            <a:pPr marL="12700" marR="5080">
              <a:lnSpc>
                <a:spcPct val="100000"/>
              </a:lnSpc>
              <a:spcBef>
                <a:spcPts val="55"/>
              </a:spcBef>
            </a:pPr>
            <a:r>
              <a:rPr lang="en-US" sz="1000" dirty="0"/>
              <a:t>Internet Protocol version 6 (IPv6) was developed to expand the Internet's addressing capability and support continued growth. IPv4 and IPv6 can coexist during a transition period, which means websites and their supporting infrastructure may operate in mixed environments. A website's practical readiness therefore depends on more than the presence of one DNS record. DNS can publish IPv6 addresses through AAAA records, while actual reachability depends on routing, firewall rules, server configuration, and the network path between client and service. HTTPS introduces additional checks, including whether a TLS connection can be established and whether the certificate and hostname validation succeed. External scripts, APIs, content delivery networks, and other referenced services may have independent network configurations. NETSCOPE treats readiness as a collection of observable signals rather than a single binary property. The audit should record the target, test performed, timestamp, outcome, and evidence for each finding. Where a test cannot be completed—for example, because of rate limits, access controls, timeouts, or an endpoint that could not be discovered—the result should be marked inconclusive instead of being reported as a confirmed failure.</a:t>
            </a:r>
            <a:endParaRPr sz="1000" dirty="0">
              <a:latin typeface="Century Gothic"/>
              <a:cs typeface="Century Gothic"/>
            </a:endParaRPr>
          </a:p>
        </p:txBody>
      </p:sp>
      <p:sp>
        <p:nvSpPr>
          <p:cNvPr id="6" name="object 6"/>
          <p:cNvSpPr txBox="1"/>
          <p:nvPr/>
        </p:nvSpPr>
        <p:spPr>
          <a:xfrm>
            <a:off x="239293" y="3050083"/>
            <a:ext cx="1608455" cy="207645"/>
          </a:xfrm>
          <a:prstGeom prst="rect">
            <a:avLst/>
          </a:prstGeom>
        </p:spPr>
        <p:txBody>
          <a:bodyPr vert="horz" wrap="square" lIns="0" tIns="0" rIns="0" bIns="0" rtlCol="0">
            <a:spAutoFit/>
          </a:bodyPr>
          <a:lstStyle/>
          <a:p>
            <a:pPr marL="12700">
              <a:lnSpc>
                <a:spcPts val="1315"/>
              </a:lnSpc>
            </a:pPr>
            <a:r>
              <a:rPr sz="600" spc="-60" dirty="0">
                <a:solidFill>
                  <a:srgbClr val="0000DC"/>
                </a:solidFill>
                <a:latin typeface="Century Gothic"/>
                <a:cs typeface="Century Gothic"/>
              </a:rPr>
              <a:t>J.</a:t>
            </a:r>
            <a:r>
              <a:rPr sz="600" spc="10" dirty="0">
                <a:solidFill>
                  <a:srgbClr val="0000DC"/>
                </a:solidFill>
                <a:latin typeface="Century Gothic"/>
                <a:cs typeface="Century Gothic"/>
              </a:rPr>
              <a:t> </a:t>
            </a:r>
            <a:r>
              <a:rPr sz="600" spc="-20" dirty="0">
                <a:solidFill>
                  <a:srgbClr val="0000DC"/>
                </a:solidFill>
                <a:latin typeface="Century Gothic"/>
                <a:cs typeface="Century Gothic"/>
              </a:rPr>
              <a:t>Doe</a:t>
            </a:r>
            <a:r>
              <a:rPr sz="600"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b="1" dirty="0">
                <a:solidFill>
                  <a:srgbClr val="0000DC"/>
                </a:solidFill>
                <a:latin typeface="Century Gothic"/>
                <a:cs typeface="Century Gothic"/>
                <a:hlinkClick r:id="rId4" action="ppaction://hlinksldjump"/>
              </a:rPr>
              <a:t>A3-</a:t>
            </a:r>
            <a:r>
              <a:rPr sz="600" b="1" spc="-10" dirty="0">
                <a:solidFill>
                  <a:srgbClr val="0000DC"/>
                </a:solidFill>
                <a:latin typeface="Century Gothic"/>
                <a:cs typeface="Century Gothic"/>
                <a:hlinkClick r:id="rId4" action="ppaction://hlinksldjump"/>
              </a:rPr>
              <a:t>PS001-</a:t>
            </a:r>
            <a:r>
              <a:rPr sz="600" b="1" dirty="0">
                <a:solidFill>
                  <a:srgbClr val="0000DC"/>
                </a:solidFill>
                <a:latin typeface="Century Gothic"/>
                <a:cs typeface="Century Gothic"/>
                <a:hlinkClick r:id="rId4" action="ppaction://hlinksldjump"/>
              </a:rPr>
              <a:t>TC001</a:t>
            </a:r>
            <a:r>
              <a:rPr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sz="600" dirty="0">
                <a:solidFill>
                  <a:srgbClr val="0000DC"/>
                </a:solidFill>
                <a:latin typeface="Century Gothic"/>
                <a:cs typeface="Century Gothic"/>
              </a:rPr>
              <a:t>5,</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3</a:t>
            </a:fld>
            <a:r>
              <a:rPr spc="5" dirty="0"/>
              <a:t> </a:t>
            </a:r>
            <a:r>
              <a:rPr dirty="0"/>
              <a:t>/</a:t>
            </a:r>
            <a:r>
              <a:rPr spc="10" dirty="0"/>
              <a:t> </a:t>
            </a:r>
            <a:r>
              <a:rPr spc="-25" dirty="0"/>
              <a:t>11</a:t>
            </a:r>
          </a:p>
        </p:txBody>
      </p:sp>
    </p:spTree>
  </p:cSld>
  <p:clrMapOvr>
    <a:masterClrMapping/>
  </p:clrMapOvr>
  <p:transition>
    <p:cut/>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927100"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3" action="ppaction://hlinksldjump"/>
              </a:rPr>
              <a:t>Literature</a:t>
            </a:r>
            <a:r>
              <a:rPr sz="600" b="1" spc="30" dirty="0">
                <a:solidFill>
                  <a:srgbClr val="0000DC"/>
                </a:solidFill>
                <a:latin typeface="Century Gothic"/>
                <a:cs typeface="Century Gothic"/>
                <a:hlinkClick r:id="rId3" action="ppaction://hlinksldjump"/>
              </a:rPr>
              <a:t> </a:t>
            </a:r>
            <a:r>
              <a:rPr sz="600" b="1" spc="114" dirty="0">
                <a:solidFill>
                  <a:srgbClr val="0000DC"/>
                </a:solidFill>
                <a:latin typeface="Century Gothic"/>
                <a:cs typeface="Century Gothic"/>
                <a:hlinkClick r:id="rId3" action="ppaction://hlinksldjump"/>
              </a:rPr>
              <a:t>&amp;</a:t>
            </a:r>
            <a:r>
              <a:rPr sz="600" b="1" spc="30" dirty="0">
                <a:solidFill>
                  <a:srgbClr val="0000DC"/>
                </a:solidFill>
                <a:latin typeface="Century Gothic"/>
                <a:cs typeface="Century Gothic"/>
                <a:hlinkClick r:id="rId3" action="ppaction://hlinksldjump"/>
              </a:rPr>
              <a:t> </a:t>
            </a:r>
            <a:r>
              <a:rPr sz="600" b="1" dirty="0">
                <a:solidFill>
                  <a:srgbClr val="0000DC"/>
                </a:solidFill>
                <a:latin typeface="Century Gothic"/>
                <a:cs typeface="Century Gothic"/>
                <a:hlinkClick r:id="rId3" action="ppaction://hlinksldjump"/>
              </a:rPr>
              <a:t>RFC</a:t>
            </a:r>
            <a:r>
              <a:rPr sz="600" b="1" spc="3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Review</a:t>
            </a:r>
            <a:endParaRPr sz="600">
              <a:latin typeface="Century Gothic"/>
              <a:cs typeface="Century Gothic"/>
            </a:endParaRPr>
          </a:p>
        </p:txBody>
      </p:sp>
      <p:sp>
        <p:nvSpPr>
          <p:cNvPr id="4" name="object 4"/>
          <p:cNvSpPr txBox="1"/>
          <p:nvPr/>
        </p:nvSpPr>
        <p:spPr>
          <a:xfrm>
            <a:off x="239293" y="198244"/>
            <a:ext cx="1936750" cy="244475"/>
          </a:xfrm>
          <a:prstGeom prst="rect">
            <a:avLst/>
          </a:prstGeom>
        </p:spPr>
        <p:txBody>
          <a:bodyPr vert="horz" wrap="square" lIns="0" tIns="17145" rIns="0" bIns="0" rtlCol="0">
            <a:spAutoFit/>
          </a:bodyPr>
          <a:lstStyle/>
          <a:p>
            <a:pPr marL="12700">
              <a:lnSpc>
                <a:spcPct val="100000"/>
              </a:lnSpc>
              <a:spcBef>
                <a:spcPts val="135"/>
              </a:spcBef>
            </a:pPr>
            <a:r>
              <a:rPr sz="1400" b="1" spc="-20" dirty="0">
                <a:solidFill>
                  <a:srgbClr val="0000DC"/>
                </a:solidFill>
                <a:latin typeface="Century Gothic"/>
                <a:cs typeface="Century Gothic"/>
              </a:rPr>
              <a:t>Literature</a:t>
            </a:r>
            <a:r>
              <a:rPr sz="1400" b="1" spc="-30" dirty="0">
                <a:solidFill>
                  <a:srgbClr val="0000DC"/>
                </a:solidFill>
                <a:latin typeface="Century Gothic"/>
                <a:cs typeface="Century Gothic"/>
              </a:rPr>
              <a:t> </a:t>
            </a:r>
            <a:r>
              <a:rPr sz="1400" b="1" spc="204" dirty="0">
                <a:solidFill>
                  <a:srgbClr val="0000DC"/>
                </a:solidFill>
                <a:latin typeface="Century Gothic"/>
                <a:cs typeface="Century Gothic"/>
              </a:rPr>
              <a:t>&amp;</a:t>
            </a:r>
            <a:r>
              <a:rPr sz="1400" b="1" spc="-30" dirty="0">
                <a:solidFill>
                  <a:srgbClr val="0000DC"/>
                </a:solidFill>
                <a:latin typeface="Century Gothic"/>
                <a:cs typeface="Century Gothic"/>
              </a:rPr>
              <a:t> </a:t>
            </a:r>
            <a:r>
              <a:rPr sz="1400" b="1" spc="-70" dirty="0">
                <a:solidFill>
                  <a:srgbClr val="0000DC"/>
                </a:solidFill>
                <a:latin typeface="Century Gothic"/>
                <a:cs typeface="Century Gothic"/>
              </a:rPr>
              <a:t>RFC</a:t>
            </a:r>
            <a:r>
              <a:rPr sz="1400" b="1" spc="-25" dirty="0">
                <a:solidFill>
                  <a:srgbClr val="0000DC"/>
                </a:solidFill>
                <a:latin typeface="Century Gothic"/>
                <a:cs typeface="Century Gothic"/>
              </a:rPr>
              <a:t> </a:t>
            </a:r>
            <a:r>
              <a:rPr sz="1400" b="1" spc="-80" dirty="0">
                <a:solidFill>
                  <a:srgbClr val="0000DC"/>
                </a:solidFill>
                <a:latin typeface="Century Gothic"/>
                <a:cs typeface="Century Gothic"/>
              </a:rPr>
              <a:t>Review</a:t>
            </a:r>
            <a:endParaRPr sz="1400">
              <a:latin typeface="Century Gothic"/>
              <a:cs typeface="Century Gothic"/>
            </a:endParaRPr>
          </a:p>
        </p:txBody>
      </p:sp>
      <p:sp>
        <p:nvSpPr>
          <p:cNvPr id="5" name="object 5"/>
          <p:cNvSpPr txBox="1"/>
          <p:nvPr/>
        </p:nvSpPr>
        <p:spPr>
          <a:xfrm>
            <a:off x="260229" y="588712"/>
            <a:ext cx="5161915" cy="2315377"/>
          </a:xfrm>
          <a:prstGeom prst="rect">
            <a:avLst/>
          </a:prstGeom>
        </p:spPr>
        <p:txBody>
          <a:bodyPr vert="horz" wrap="square" lIns="0" tIns="6985" rIns="0" bIns="0" rtlCol="0">
            <a:spAutoFit/>
          </a:bodyPr>
          <a:lstStyle/>
          <a:p>
            <a:pPr marL="12700" marR="5080">
              <a:lnSpc>
                <a:spcPct val="100000"/>
              </a:lnSpc>
              <a:spcBef>
                <a:spcPts val="55"/>
              </a:spcBef>
            </a:pPr>
            <a:r>
              <a:rPr lang="en-US" sz="1000" dirty="0"/>
              <a:t>The following standards are relevant foundations for designing and interpreting NETSCOPE's checks. They define protocol </a:t>
            </a:r>
            <a:r>
              <a:rPr lang="en-US" sz="1000" dirty="0" err="1"/>
              <a:t>behaviour</a:t>
            </a:r>
            <a:r>
              <a:rPr lang="en-US" sz="1000" dirty="0"/>
              <a:t>; they do not, by themselves, provide a complete website-readiness scoring method. RFC 8200 — Internet Protocol, Version 6 (IPv6) Specification Defines IPv6 packet format and core protocol </a:t>
            </a:r>
            <a:r>
              <a:rPr lang="en-US" sz="1000" dirty="0" err="1"/>
              <a:t>behaviour</a:t>
            </a:r>
            <a:r>
              <a:rPr lang="en-US" sz="1000" dirty="0"/>
              <a:t>. It provides the protocol baseline for IPv6-related checks. RFC 3596 — DNS Extensions to Support IP Version 6 Defines DNS support for IPv6, including AAAA records. A valid AAAA record indicates published address information, not guaranteed end-to-end reachability. RFC 8305 — Happy Eyeballs Version 2 Describes techniques that help applications connect efficiently when IPv4 and IPv6 are both available. It highlights that connection </a:t>
            </a:r>
            <a:r>
              <a:rPr lang="en-US" sz="1000" dirty="0" err="1"/>
              <a:t>behaviour</a:t>
            </a:r>
            <a:r>
              <a:rPr lang="en-US" sz="1000" dirty="0"/>
              <a:t> can depend on client and network conditions. RFC 9110 — HTTP Semantics Defines the semantics of HTTP. NETSCOPE can use HTTP-level observations as supporting context, while avoiding assumptions that an HTTP response alone proves full IPv6 readiness. RFC 8446 — The Transport Layer Security (TLS) Protocol Version 1.3 Specifies TLS 1.3. HTTPS checks should distinguish connection failures from certificate, hostname, and protocol-validation issues.</a:t>
            </a:r>
            <a:r>
              <a:rPr sz="1000" spc="-50" dirty="0">
                <a:latin typeface="Century Gothic"/>
                <a:cs typeface="Century Gothic"/>
              </a:rPr>
              <a:t>.</a:t>
            </a:r>
            <a:endParaRPr sz="1000" dirty="0">
              <a:latin typeface="Century Gothic"/>
              <a:cs typeface="Century Gothic"/>
            </a:endParaRPr>
          </a:p>
        </p:txBody>
      </p:sp>
      <p:sp>
        <p:nvSpPr>
          <p:cNvPr id="6" name="object 6"/>
          <p:cNvSpPr txBox="1"/>
          <p:nvPr/>
        </p:nvSpPr>
        <p:spPr>
          <a:xfrm>
            <a:off x="239293" y="3050083"/>
            <a:ext cx="1608455" cy="207645"/>
          </a:xfrm>
          <a:prstGeom prst="rect">
            <a:avLst/>
          </a:prstGeom>
        </p:spPr>
        <p:txBody>
          <a:bodyPr vert="horz" wrap="square" lIns="0" tIns="0" rIns="0" bIns="0" rtlCol="0">
            <a:spAutoFit/>
          </a:bodyPr>
          <a:lstStyle/>
          <a:p>
            <a:pPr marL="12700">
              <a:lnSpc>
                <a:spcPts val="1315"/>
              </a:lnSpc>
            </a:pPr>
            <a:r>
              <a:rPr sz="600" spc="-60" dirty="0">
                <a:solidFill>
                  <a:srgbClr val="0000DC"/>
                </a:solidFill>
                <a:latin typeface="Century Gothic"/>
                <a:cs typeface="Century Gothic"/>
              </a:rPr>
              <a:t>J.</a:t>
            </a:r>
            <a:r>
              <a:rPr sz="600" spc="10" dirty="0">
                <a:solidFill>
                  <a:srgbClr val="0000DC"/>
                </a:solidFill>
                <a:latin typeface="Century Gothic"/>
                <a:cs typeface="Century Gothic"/>
              </a:rPr>
              <a:t> </a:t>
            </a:r>
            <a:r>
              <a:rPr sz="600" spc="-20" dirty="0">
                <a:solidFill>
                  <a:srgbClr val="0000DC"/>
                </a:solidFill>
                <a:latin typeface="Century Gothic"/>
                <a:cs typeface="Century Gothic"/>
              </a:rPr>
              <a:t>Doe</a:t>
            </a:r>
            <a:r>
              <a:rPr sz="600"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b="1" dirty="0">
                <a:solidFill>
                  <a:srgbClr val="0000DC"/>
                </a:solidFill>
                <a:latin typeface="Century Gothic"/>
                <a:cs typeface="Century Gothic"/>
                <a:hlinkClick r:id="rId4" action="ppaction://hlinksldjump"/>
              </a:rPr>
              <a:t>A3-</a:t>
            </a:r>
            <a:r>
              <a:rPr sz="600" b="1" spc="-10" dirty="0">
                <a:solidFill>
                  <a:srgbClr val="0000DC"/>
                </a:solidFill>
                <a:latin typeface="Century Gothic"/>
                <a:cs typeface="Century Gothic"/>
                <a:hlinkClick r:id="rId4" action="ppaction://hlinksldjump"/>
              </a:rPr>
              <a:t>PS001-</a:t>
            </a:r>
            <a:r>
              <a:rPr sz="600" b="1" dirty="0">
                <a:solidFill>
                  <a:srgbClr val="0000DC"/>
                </a:solidFill>
                <a:latin typeface="Century Gothic"/>
                <a:cs typeface="Century Gothic"/>
                <a:hlinkClick r:id="rId4" action="ppaction://hlinksldjump"/>
              </a:rPr>
              <a:t>TC001</a:t>
            </a:r>
            <a:r>
              <a:rPr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sz="600" dirty="0">
                <a:solidFill>
                  <a:srgbClr val="0000DC"/>
                </a:solidFill>
                <a:latin typeface="Century Gothic"/>
                <a:cs typeface="Century Gothic"/>
              </a:rPr>
              <a:t>5,</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4</a:t>
            </a:fld>
            <a:r>
              <a:rPr spc="5" dirty="0"/>
              <a:t> </a:t>
            </a:r>
            <a:r>
              <a:rPr dirty="0"/>
              <a:t>/</a:t>
            </a:r>
            <a:r>
              <a:rPr spc="10" dirty="0"/>
              <a:t> </a:t>
            </a:r>
            <a:r>
              <a:rPr spc="-25" dirty="0"/>
              <a:t>11</a:t>
            </a:r>
          </a:p>
        </p:txBody>
      </p:sp>
    </p:spTree>
  </p:cSld>
  <p:clrMapOvr>
    <a:masterClrMapping/>
  </p:clrMapOvr>
  <p:transition>
    <p:cut/>
  </p:transition>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706755"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3" action="ppaction://hlinksldjump"/>
              </a:rPr>
              <a:t>Proposed</a:t>
            </a:r>
            <a:r>
              <a:rPr sz="600" b="1" spc="3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Solution</a:t>
            </a:r>
            <a:endParaRPr sz="600">
              <a:latin typeface="Century Gothic"/>
              <a:cs typeface="Century Gothic"/>
            </a:endParaRPr>
          </a:p>
        </p:txBody>
      </p:sp>
      <p:sp>
        <p:nvSpPr>
          <p:cNvPr id="4" name="object 4"/>
          <p:cNvSpPr txBox="1"/>
          <p:nvPr/>
        </p:nvSpPr>
        <p:spPr>
          <a:xfrm>
            <a:off x="239293" y="198244"/>
            <a:ext cx="1452245" cy="244475"/>
          </a:xfrm>
          <a:prstGeom prst="rect">
            <a:avLst/>
          </a:prstGeom>
        </p:spPr>
        <p:txBody>
          <a:bodyPr vert="horz" wrap="square" lIns="0" tIns="17145" rIns="0" bIns="0" rtlCol="0">
            <a:spAutoFit/>
          </a:bodyPr>
          <a:lstStyle/>
          <a:p>
            <a:pPr marL="12700">
              <a:lnSpc>
                <a:spcPct val="100000"/>
              </a:lnSpc>
              <a:spcBef>
                <a:spcPts val="135"/>
              </a:spcBef>
            </a:pPr>
            <a:r>
              <a:rPr sz="1400" b="1" spc="-100" dirty="0">
                <a:solidFill>
                  <a:srgbClr val="0000DC"/>
                </a:solidFill>
                <a:latin typeface="Century Gothic"/>
                <a:cs typeface="Century Gothic"/>
              </a:rPr>
              <a:t>Proposed</a:t>
            </a:r>
            <a:r>
              <a:rPr sz="1400" b="1" spc="25" dirty="0">
                <a:solidFill>
                  <a:srgbClr val="0000DC"/>
                </a:solidFill>
                <a:latin typeface="Century Gothic"/>
                <a:cs typeface="Century Gothic"/>
              </a:rPr>
              <a:t> </a:t>
            </a:r>
            <a:r>
              <a:rPr sz="1400" b="1" spc="-10" dirty="0">
                <a:solidFill>
                  <a:srgbClr val="0000DC"/>
                </a:solidFill>
                <a:latin typeface="Century Gothic"/>
                <a:cs typeface="Century Gothic"/>
              </a:rPr>
              <a:t>Solution</a:t>
            </a:r>
            <a:endParaRPr sz="1400">
              <a:latin typeface="Century Gothic"/>
              <a:cs typeface="Century Gothic"/>
            </a:endParaRPr>
          </a:p>
        </p:txBody>
      </p:sp>
      <p:sp>
        <p:nvSpPr>
          <p:cNvPr id="5" name="object 5"/>
          <p:cNvSpPr txBox="1"/>
          <p:nvPr/>
        </p:nvSpPr>
        <p:spPr>
          <a:xfrm>
            <a:off x="239293" y="631825"/>
            <a:ext cx="5075555" cy="2250616"/>
          </a:xfrm>
          <a:prstGeom prst="rect">
            <a:avLst/>
          </a:prstGeom>
        </p:spPr>
        <p:txBody>
          <a:bodyPr vert="horz" wrap="square" lIns="0" tIns="11430" rIns="0" bIns="0" rtlCol="0">
            <a:spAutoFit/>
          </a:bodyPr>
          <a:lstStyle/>
          <a:p>
            <a:pPr marL="12700">
              <a:lnSpc>
                <a:spcPct val="100000"/>
              </a:lnSpc>
              <a:spcBef>
                <a:spcPts val="90"/>
              </a:spcBef>
            </a:pPr>
            <a:r>
              <a:rPr lang="en-US" sz="1100" dirty="0"/>
              <a:t>NETSCOPE is organized as a staged audit pipeline. The user submits a domain or website URL. The input is validated and normalized before the audit begins. The system then performs the checks supported by the implementation, collects evidence, discovers dependencies that can be safely observed, and correlates the results into a structured report</a:t>
            </a:r>
          </a:p>
          <a:p>
            <a:pPr marL="12700">
              <a:lnSpc>
                <a:spcPct val="100000"/>
              </a:lnSpc>
              <a:spcBef>
                <a:spcPts val="90"/>
              </a:spcBef>
            </a:pPr>
            <a:endParaRPr lang="en-US" sz="1100" dirty="0">
              <a:latin typeface="Century Gothic"/>
              <a:cs typeface="Century Gothic"/>
            </a:endParaRPr>
          </a:p>
          <a:p>
            <a:pPr marL="12700">
              <a:lnSpc>
                <a:spcPct val="100000"/>
              </a:lnSpc>
              <a:spcBef>
                <a:spcPts val="90"/>
              </a:spcBef>
            </a:pPr>
            <a:r>
              <a:rPr lang="en-US" sz="1100" b="1" dirty="0"/>
              <a:t>Expected output:</a:t>
            </a:r>
          </a:p>
          <a:p>
            <a:pPr marL="12700">
              <a:lnSpc>
                <a:spcPct val="100000"/>
              </a:lnSpc>
              <a:spcBef>
                <a:spcPts val="90"/>
              </a:spcBef>
            </a:pPr>
            <a:r>
              <a:rPr lang="en-US" sz="1100" dirty="0"/>
              <a:t> The report should show an overall readiness summary alongside individual check statuses, affected hostnames, evidence, timestamps, and limitations. The interface should distinguish passed checks, confirmed issues, warnings, and inconclusive results. A recommendation must be traceable to a finding; any AI-generated explanation should summarize recorded evidence rather than inventing test results.</a:t>
            </a:r>
            <a:endParaRPr sz="1100" dirty="0">
              <a:latin typeface="Century Gothic"/>
              <a:cs typeface="Century Gothic"/>
            </a:endParaRPr>
          </a:p>
        </p:txBody>
      </p:sp>
      <p:sp>
        <p:nvSpPr>
          <p:cNvPr id="6" name="object 6"/>
          <p:cNvSpPr txBox="1"/>
          <p:nvPr/>
        </p:nvSpPr>
        <p:spPr>
          <a:xfrm>
            <a:off x="239293" y="3050083"/>
            <a:ext cx="1608455" cy="207645"/>
          </a:xfrm>
          <a:prstGeom prst="rect">
            <a:avLst/>
          </a:prstGeom>
        </p:spPr>
        <p:txBody>
          <a:bodyPr vert="horz" wrap="square" lIns="0" tIns="0" rIns="0" bIns="0" rtlCol="0">
            <a:spAutoFit/>
          </a:bodyPr>
          <a:lstStyle/>
          <a:p>
            <a:pPr marL="12700">
              <a:lnSpc>
                <a:spcPts val="1315"/>
              </a:lnSpc>
            </a:pPr>
            <a:r>
              <a:rPr sz="600" spc="-60" dirty="0">
                <a:solidFill>
                  <a:srgbClr val="0000DC"/>
                </a:solidFill>
                <a:latin typeface="Century Gothic"/>
                <a:cs typeface="Century Gothic"/>
              </a:rPr>
              <a:t>J.</a:t>
            </a:r>
            <a:r>
              <a:rPr sz="600" spc="10" dirty="0">
                <a:solidFill>
                  <a:srgbClr val="0000DC"/>
                </a:solidFill>
                <a:latin typeface="Century Gothic"/>
                <a:cs typeface="Century Gothic"/>
              </a:rPr>
              <a:t> </a:t>
            </a:r>
            <a:r>
              <a:rPr sz="600" spc="-20" dirty="0">
                <a:solidFill>
                  <a:srgbClr val="0000DC"/>
                </a:solidFill>
                <a:latin typeface="Century Gothic"/>
                <a:cs typeface="Century Gothic"/>
              </a:rPr>
              <a:t>Doe</a:t>
            </a:r>
            <a:r>
              <a:rPr sz="600"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b="1" dirty="0">
                <a:solidFill>
                  <a:srgbClr val="0000DC"/>
                </a:solidFill>
                <a:latin typeface="Century Gothic"/>
                <a:cs typeface="Century Gothic"/>
                <a:hlinkClick r:id="rId4" action="ppaction://hlinksldjump"/>
              </a:rPr>
              <a:t>A3-</a:t>
            </a:r>
            <a:r>
              <a:rPr sz="600" b="1" spc="-10" dirty="0">
                <a:solidFill>
                  <a:srgbClr val="0000DC"/>
                </a:solidFill>
                <a:latin typeface="Century Gothic"/>
                <a:cs typeface="Century Gothic"/>
                <a:hlinkClick r:id="rId4" action="ppaction://hlinksldjump"/>
              </a:rPr>
              <a:t>PS001-</a:t>
            </a:r>
            <a:r>
              <a:rPr sz="600" b="1" dirty="0">
                <a:solidFill>
                  <a:srgbClr val="0000DC"/>
                </a:solidFill>
                <a:latin typeface="Century Gothic"/>
                <a:cs typeface="Century Gothic"/>
                <a:hlinkClick r:id="rId4" action="ppaction://hlinksldjump"/>
              </a:rPr>
              <a:t>TC001</a:t>
            </a:r>
            <a:r>
              <a:rPr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sz="600" dirty="0">
                <a:solidFill>
                  <a:srgbClr val="0000DC"/>
                </a:solidFill>
                <a:latin typeface="Century Gothic"/>
                <a:cs typeface="Century Gothic"/>
              </a:rPr>
              <a:t>5,</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5</a:t>
            </a:fld>
            <a:r>
              <a:rPr spc="5" dirty="0"/>
              <a:t> </a:t>
            </a:r>
            <a:r>
              <a:rPr dirty="0"/>
              <a:t>/</a:t>
            </a:r>
            <a:r>
              <a:rPr spc="10" dirty="0"/>
              <a:t> </a:t>
            </a:r>
            <a:r>
              <a:rPr spc="-25" dirty="0"/>
              <a:t>11</a:t>
            </a:r>
          </a:p>
        </p:txBody>
      </p:sp>
    </p:spTree>
  </p:cSld>
  <p:clrMapOvr>
    <a:masterClrMapping/>
  </p:clrMapOvr>
  <p:transition>
    <p:cut/>
  </p:transition>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847725"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3" action="ppaction://hlinksldjump"/>
              </a:rPr>
              <a:t>Solution</a:t>
            </a:r>
            <a:r>
              <a:rPr sz="600" b="1" spc="9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Optimization</a:t>
            </a:r>
            <a:endParaRPr sz="600">
              <a:latin typeface="Century Gothic"/>
              <a:cs typeface="Century Gothic"/>
            </a:endParaRPr>
          </a:p>
        </p:txBody>
      </p:sp>
      <p:sp>
        <p:nvSpPr>
          <p:cNvPr id="4" name="object 4"/>
          <p:cNvSpPr txBox="1"/>
          <p:nvPr/>
        </p:nvSpPr>
        <p:spPr>
          <a:xfrm>
            <a:off x="239293" y="198244"/>
            <a:ext cx="1808480" cy="244475"/>
          </a:xfrm>
          <a:prstGeom prst="rect">
            <a:avLst/>
          </a:prstGeom>
        </p:spPr>
        <p:txBody>
          <a:bodyPr vert="horz" wrap="square" lIns="0" tIns="17145" rIns="0" bIns="0" rtlCol="0">
            <a:spAutoFit/>
          </a:bodyPr>
          <a:lstStyle/>
          <a:p>
            <a:pPr marL="12700">
              <a:lnSpc>
                <a:spcPct val="100000"/>
              </a:lnSpc>
              <a:spcBef>
                <a:spcPts val="135"/>
              </a:spcBef>
            </a:pPr>
            <a:r>
              <a:rPr sz="1400" b="1" spc="-60" dirty="0">
                <a:solidFill>
                  <a:srgbClr val="0000DC"/>
                </a:solidFill>
                <a:latin typeface="Century Gothic"/>
                <a:cs typeface="Century Gothic"/>
              </a:rPr>
              <a:t>Optimization</a:t>
            </a:r>
            <a:r>
              <a:rPr sz="1400" b="1" dirty="0">
                <a:solidFill>
                  <a:srgbClr val="0000DC"/>
                </a:solidFill>
                <a:latin typeface="Century Gothic"/>
                <a:cs typeface="Century Gothic"/>
              </a:rPr>
              <a:t> </a:t>
            </a:r>
            <a:r>
              <a:rPr sz="1400" b="1" spc="-80" dirty="0">
                <a:solidFill>
                  <a:srgbClr val="0000DC"/>
                </a:solidFill>
                <a:latin typeface="Century Gothic"/>
                <a:cs typeface="Century Gothic"/>
              </a:rPr>
              <a:t>Proposed</a:t>
            </a:r>
            <a:endParaRPr sz="1400">
              <a:latin typeface="Century Gothic"/>
              <a:cs typeface="Century Gothic"/>
            </a:endParaRPr>
          </a:p>
        </p:txBody>
      </p:sp>
      <p:sp>
        <p:nvSpPr>
          <p:cNvPr id="5" name="object 5"/>
          <p:cNvSpPr txBox="1"/>
          <p:nvPr/>
        </p:nvSpPr>
        <p:spPr>
          <a:xfrm>
            <a:off x="239293" y="1018348"/>
            <a:ext cx="5075555" cy="1530547"/>
          </a:xfrm>
          <a:prstGeom prst="rect">
            <a:avLst/>
          </a:prstGeom>
        </p:spPr>
        <p:txBody>
          <a:bodyPr vert="horz" wrap="square" lIns="0" tIns="6985" rIns="0" bIns="0" rtlCol="0">
            <a:spAutoFit/>
          </a:bodyPr>
          <a:lstStyle/>
          <a:p>
            <a:pPr marL="12700" marR="280035">
              <a:lnSpc>
                <a:spcPct val="100000"/>
              </a:lnSpc>
              <a:spcBef>
                <a:spcPts val="55"/>
              </a:spcBef>
            </a:pPr>
            <a:r>
              <a:rPr lang="en-US" sz="1100" dirty="0"/>
              <a:t>Optimization priorities • Use asynchronous or parallel checks only where safe and supported, with explicit timeouts and concurrency limits. • Cache DNS or endpoint results only for an appropriate period and display the audit timestamp to avoid implying stale results are live. • Use consistent status categories and deterministic priority rules so users can understand why a finding is ranked. • Keep a clear audit trail between raw evidence, derived findings, and recommendations. • Measure audit duration, successful check rate, false-positive rate, and repeatability during evaluation before claiming performance gains</a:t>
            </a:r>
            <a:endParaRPr sz="1100" dirty="0">
              <a:latin typeface="Century Gothic"/>
              <a:cs typeface="Century Gothic"/>
            </a:endParaRPr>
          </a:p>
        </p:txBody>
      </p:sp>
      <p:sp>
        <p:nvSpPr>
          <p:cNvPr id="6" name="object 6"/>
          <p:cNvSpPr txBox="1"/>
          <p:nvPr/>
        </p:nvSpPr>
        <p:spPr>
          <a:xfrm>
            <a:off x="239293" y="3050083"/>
            <a:ext cx="1608455" cy="207645"/>
          </a:xfrm>
          <a:prstGeom prst="rect">
            <a:avLst/>
          </a:prstGeom>
        </p:spPr>
        <p:txBody>
          <a:bodyPr vert="horz" wrap="square" lIns="0" tIns="0" rIns="0" bIns="0" rtlCol="0">
            <a:spAutoFit/>
          </a:bodyPr>
          <a:lstStyle/>
          <a:p>
            <a:pPr marL="12700">
              <a:lnSpc>
                <a:spcPts val="1315"/>
              </a:lnSpc>
            </a:pPr>
            <a:r>
              <a:rPr sz="600" spc="-60" dirty="0">
                <a:solidFill>
                  <a:srgbClr val="0000DC"/>
                </a:solidFill>
                <a:latin typeface="Century Gothic"/>
                <a:cs typeface="Century Gothic"/>
              </a:rPr>
              <a:t>J.</a:t>
            </a:r>
            <a:r>
              <a:rPr sz="600" spc="10" dirty="0">
                <a:solidFill>
                  <a:srgbClr val="0000DC"/>
                </a:solidFill>
                <a:latin typeface="Century Gothic"/>
                <a:cs typeface="Century Gothic"/>
              </a:rPr>
              <a:t> </a:t>
            </a:r>
            <a:r>
              <a:rPr sz="600" spc="-20" dirty="0">
                <a:solidFill>
                  <a:srgbClr val="0000DC"/>
                </a:solidFill>
                <a:latin typeface="Century Gothic"/>
                <a:cs typeface="Century Gothic"/>
              </a:rPr>
              <a:t>Doe</a:t>
            </a:r>
            <a:r>
              <a:rPr sz="600"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b="1" dirty="0">
                <a:solidFill>
                  <a:srgbClr val="0000DC"/>
                </a:solidFill>
                <a:latin typeface="Century Gothic"/>
                <a:cs typeface="Century Gothic"/>
                <a:hlinkClick r:id="rId4" action="ppaction://hlinksldjump"/>
              </a:rPr>
              <a:t>A3-</a:t>
            </a:r>
            <a:r>
              <a:rPr sz="600" b="1" spc="-10" dirty="0">
                <a:solidFill>
                  <a:srgbClr val="0000DC"/>
                </a:solidFill>
                <a:latin typeface="Century Gothic"/>
                <a:cs typeface="Century Gothic"/>
                <a:hlinkClick r:id="rId4" action="ppaction://hlinksldjump"/>
              </a:rPr>
              <a:t>PS001-</a:t>
            </a:r>
            <a:r>
              <a:rPr sz="600" b="1" dirty="0">
                <a:solidFill>
                  <a:srgbClr val="0000DC"/>
                </a:solidFill>
                <a:latin typeface="Century Gothic"/>
                <a:cs typeface="Century Gothic"/>
                <a:hlinkClick r:id="rId4" action="ppaction://hlinksldjump"/>
              </a:rPr>
              <a:t>TC001</a:t>
            </a:r>
            <a:r>
              <a:rPr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sz="600" dirty="0">
                <a:solidFill>
                  <a:srgbClr val="0000DC"/>
                </a:solidFill>
                <a:latin typeface="Century Gothic"/>
                <a:cs typeface="Century Gothic"/>
              </a:rPr>
              <a:t>5,</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6</a:t>
            </a:fld>
            <a:r>
              <a:rPr spc="5" dirty="0"/>
              <a:t> </a:t>
            </a:r>
            <a:r>
              <a:rPr dirty="0"/>
              <a:t>/</a:t>
            </a:r>
            <a:r>
              <a:rPr spc="10" dirty="0"/>
              <a:t> </a:t>
            </a:r>
            <a:r>
              <a:rPr spc="-25" dirty="0"/>
              <a:t>11</a:t>
            </a:r>
          </a:p>
        </p:txBody>
      </p:sp>
    </p:spTree>
  </p:cSld>
  <p:clrMapOvr>
    <a:masterClrMapping/>
  </p:clrMapOvr>
  <p:transition>
    <p:cut/>
  </p:transition>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9293" y="-20564"/>
            <a:ext cx="2574290" cy="462915"/>
          </a:xfrm>
          <a:prstGeom prst="rect">
            <a:avLst/>
          </a:prstGeom>
        </p:spPr>
        <p:txBody>
          <a:bodyPr vert="horz" wrap="square" lIns="0" tIns="49530" rIns="0" bIns="0" rtlCol="0">
            <a:spAutoFit/>
          </a:bodyPr>
          <a:lstStyle/>
          <a:p>
            <a:pPr marR="5080" algn="r">
              <a:lnSpc>
                <a:spcPct val="100000"/>
              </a:lnSpc>
              <a:spcBef>
                <a:spcPts val="390"/>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a:p>
            <a:pPr>
              <a:lnSpc>
                <a:spcPct val="100000"/>
              </a:lnSpc>
              <a:spcBef>
                <a:spcPts val="10"/>
              </a:spcBef>
            </a:pPr>
            <a:endParaRPr sz="600">
              <a:latin typeface="Century Gothic"/>
              <a:cs typeface="Century Gothic"/>
            </a:endParaRPr>
          </a:p>
          <a:p>
            <a:pPr marL="12700">
              <a:lnSpc>
                <a:spcPct val="100000"/>
              </a:lnSpc>
            </a:pPr>
            <a:r>
              <a:rPr sz="1400" b="1" spc="-20" dirty="0">
                <a:solidFill>
                  <a:srgbClr val="0000DC"/>
                </a:solidFill>
                <a:latin typeface="Century Gothic"/>
                <a:cs typeface="Century Gothic"/>
              </a:rPr>
              <a:t>Solution </a:t>
            </a:r>
            <a:r>
              <a:rPr sz="1400" b="1" spc="-85" dirty="0">
                <a:solidFill>
                  <a:srgbClr val="0000DC"/>
                </a:solidFill>
                <a:latin typeface="Century Gothic"/>
                <a:cs typeface="Century Gothic"/>
              </a:rPr>
              <a:t>Architecture</a:t>
            </a:r>
            <a:r>
              <a:rPr sz="1400" b="1" spc="-15" dirty="0">
                <a:solidFill>
                  <a:srgbClr val="0000DC"/>
                </a:solidFill>
                <a:latin typeface="Century Gothic"/>
                <a:cs typeface="Century Gothic"/>
              </a:rPr>
              <a:t> </a:t>
            </a:r>
            <a:r>
              <a:rPr sz="1400" b="1" spc="204" dirty="0">
                <a:solidFill>
                  <a:srgbClr val="0000DC"/>
                </a:solidFill>
                <a:latin typeface="Century Gothic"/>
                <a:cs typeface="Century Gothic"/>
              </a:rPr>
              <a:t>&amp;</a:t>
            </a:r>
            <a:r>
              <a:rPr sz="1400" b="1" spc="-15" dirty="0">
                <a:solidFill>
                  <a:srgbClr val="0000DC"/>
                </a:solidFill>
                <a:latin typeface="Century Gothic"/>
                <a:cs typeface="Century Gothic"/>
              </a:rPr>
              <a:t> </a:t>
            </a:r>
            <a:r>
              <a:rPr sz="1400" b="1" spc="-10" dirty="0">
                <a:solidFill>
                  <a:srgbClr val="0000DC"/>
                </a:solidFill>
                <a:latin typeface="Century Gothic"/>
                <a:cs typeface="Century Gothic"/>
              </a:rPr>
              <a:t>Design</a:t>
            </a:r>
            <a:endParaRPr sz="1400">
              <a:latin typeface="Century Gothic"/>
              <a:cs typeface="Century Gothic"/>
            </a:endParaRPr>
          </a:p>
        </p:txBody>
      </p:sp>
      <p:sp>
        <p:nvSpPr>
          <p:cNvPr id="3" name="object 3"/>
          <p:cNvSpPr txBox="1"/>
          <p:nvPr/>
        </p:nvSpPr>
        <p:spPr>
          <a:xfrm>
            <a:off x="2947016" y="16997"/>
            <a:ext cx="133096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3" action="ppaction://hlinksldjump"/>
              </a:rPr>
              <a:t>Architecture</a:t>
            </a:r>
            <a:r>
              <a:rPr sz="600" b="1" spc="15" dirty="0">
                <a:solidFill>
                  <a:srgbClr val="0000DC"/>
                </a:solidFill>
                <a:latin typeface="Century Gothic"/>
                <a:cs typeface="Century Gothic"/>
                <a:hlinkClick r:id="rId3" action="ppaction://hlinksldjump"/>
              </a:rPr>
              <a:t> </a:t>
            </a:r>
            <a:r>
              <a:rPr sz="600" b="1" dirty="0">
                <a:solidFill>
                  <a:srgbClr val="0000DC"/>
                </a:solidFill>
                <a:latin typeface="Century Gothic"/>
                <a:cs typeface="Century Gothic"/>
                <a:hlinkClick r:id="rId3" action="ppaction://hlinksldjump"/>
              </a:rPr>
              <a:t>Design</a:t>
            </a:r>
            <a:r>
              <a:rPr sz="600" b="1" spc="15" dirty="0">
                <a:solidFill>
                  <a:srgbClr val="0000DC"/>
                </a:solidFill>
                <a:latin typeface="Century Gothic"/>
                <a:cs typeface="Century Gothic"/>
                <a:hlinkClick r:id="rId3" action="ppaction://hlinksldjump"/>
              </a:rPr>
              <a:t> </a:t>
            </a:r>
            <a:r>
              <a:rPr sz="600" b="1" dirty="0">
                <a:solidFill>
                  <a:srgbClr val="0000DC"/>
                </a:solidFill>
                <a:latin typeface="Century Gothic"/>
                <a:cs typeface="Century Gothic"/>
                <a:hlinkClick r:id="rId3" action="ppaction://hlinksldjump"/>
              </a:rPr>
              <a:t>(UML</a:t>
            </a:r>
            <a:r>
              <a:rPr sz="600" b="1" spc="1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Diagram)</a:t>
            </a:r>
            <a:endParaRPr sz="600">
              <a:latin typeface="Century Gothic"/>
              <a:cs typeface="Century Gothic"/>
            </a:endParaRPr>
          </a:p>
        </p:txBody>
      </p:sp>
      <p:sp>
        <p:nvSpPr>
          <p:cNvPr id="11" name="object 11"/>
          <p:cNvSpPr txBox="1"/>
          <p:nvPr/>
        </p:nvSpPr>
        <p:spPr>
          <a:xfrm>
            <a:off x="239293" y="3050083"/>
            <a:ext cx="1608455" cy="207645"/>
          </a:xfrm>
          <a:prstGeom prst="rect">
            <a:avLst/>
          </a:prstGeom>
        </p:spPr>
        <p:txBody>
          <a:bodyPr vert="horz" wrap="square" lIns="0" tIns="0" rIns="0" bIns="0" rtlCol="0">
            <a:spAutoFit/>
          </a:bodyPr>
          <a:lstStyle/>
          <a:p>
            <a:pPr marL="12700">
              <a:lnSpc>
                <a:spcPts val="1315"/>
              </a:lnSpc>
            </a:pPr>
            <a:r>
              <a:rPr sz="600" spc="-60" dirty="0">
                <a:solidFill>
                  <a:srgbClr val="0000DC"/>
                </a:solidFill>
                <a:latin typeface="Century Gothic"/>
                <a:cs typeface="Century Gothic"/>
              </a:rPr>
              <a:t>J.</a:t>
            </a:r>
            <a:r>
              <a:rPr sz="600" spc="10" dirty="0">
                <a:solidFill>
                  <a:srgbClr val="0000DC"/>
                </a:solidFill>
                <a:latin typeface="Century Gothic"/>
                <a:cs typeface="Century Gothic"/>
              </a:rPr>
              <a:t> </a:t>
            </a:r>
            <a:r>
              <a:rPr sz="600" spc="-20" dirty="0">
                <a:solidFill>
                  <a:srgbClr val="0000DC"/>
                </a:solidFill>
                <a:latin typeface="Century Gothic"/>
                <a:cs typeface="Century Gothic"/>
              </a:rPr>
              <a:t>Doe</a:t>
            </a:r>
            <a:r>
              <a:rPr sz="600"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b="1" dirty="0">
                <a:solidFill>
                  <a:srgbClr val="0000DC"/>
                </a:solidFill>
                <a:latin typeface="Century Gothic"/>
                <a:cs typeface="Century Gothic"/>
                <a:hlinkClick r:id="rId4" action="ppaction://hlinksldjump"/>
              </a:rPr>
              <a:t>A3-</a:t>
            </a:r>
            <a:r>
              <a:rPr sz="600" b="1" spc="-10" dirty="0">
                <a:solidFill>
                  <a:srgbClr val="0000DC"/>
                </a:solidFill>
                <a:latin typeface="Century Gothic"/>
                <a:cs typeface="Century Gothic"/>
                <a:hlinkClick r:id="rId4" action="ppaction://hlinksldjump"/>
              </a:rPr>
              <a:t>PS001-</a:t>
            </a:r>
            <a:r>
              <a:rPr sz="600" b="1" dirty="0">
                <a:solidFill>
                  <a:srgbClr val="0000DC"/>
                </a:solidFill>
                <a:latin typeface="Century Gothic"/>
                <a:cs typeface="Century Gothic"/>
                <a:hlinkClick r:id="rId4" action="ppaction://hlinksldjump"/>
              </a:rPr>
              <a:t>TC001</a:t>
            </a:r>
            <a:r>
              <a:rPr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sz="600" dirty="0">
                <a:solidFill>
                  <a:srgbClr val="0000DC"/>
                </a:solidFill>
                <a:latin typeface="Century Gothic"/>
                <a:cs typeface="Century Gothic"/>
              </a:rPr>
              <a:t>5,</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a:latin typeface="Century Gothic"/>
              <a:cs typeface="Century Gothic"/>
            </a:endParaRPr>
          </a:p>
        </p:txBody>
      </p:sp>
      <p:sp>
        <p:nvSpPr>
          <p:cNvPr id="12" name="object 12"/>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7</a:t>
            </a:fld>
            <a:r>
              <a:rPr spc="5" dirty="0"/>
              <a:t> </a:t>
            </a:r>
            <a:r>
              <a:rPr dirty="0"/>
              <a:t>/</a:t>
            </a:r>
            <a:r>
              <a:rPr spc="10" dirty="0"/>
              <a:t> </a:t>
            </a:r>
            <a:r>
              <a:rPr spc="-25" dirty="0"/>
              <a:t>11</a:t>
            </a:r>
          </a:p>
        </p:txBody>
      </p:sp>
      <p:pic>
        <p:nvPicPr>
          <p:cNvPr id="14" name="Picture 13">
            <a:extLst>
              <a:ext uri="{FF2B5EF4-FFF2-40B4-BE49-F238E27FC236}">
                <a16:creationId xmlns:a16="http://schemas.microsoft.com/office/drawing/2014/main" id="{BC00825E-1F31-345F-D2A6-3386EFE5A0D1}"/>
              </a:ext>
            </a:extLst>
          </p:cNvPr>
          <p:cNvPicPr>
            <a:picLocks noChangeAspect="1"/>
          </p:cNvPicPr>
          <p:nvPr/>
        </p:nvPicPr>
        <p:blipFill>
          <a:blip r:embed="rId5"/>
          <a:stretch>
            <a:fillRect/>
          </a:stretch>
        </p:blipFill>
        <p:spPr>
          <a:xfrm>
            <a:off x="457733" y="473696"/>
            <a:ext cx="4711700" cy="2482812"/>
          </a:xfrm>
          <a:prstGeom prst="rect">
            <a:avLst/>
          </a:prstGeom>
        </p:spPr>
      </p:pic>
    </p:spTree>
  </p:cSld>
  <p:clrMapOvr>
    <a:masterClrMapping/>
  </p:clrMapOvr>
  <p:transition>
    <p:cut/>
  </p:transition>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1169035" cy="116839"/>
          </a:xfrm>
          <a:prstGeom prst="rect">
            <a:avLst/>
          </a:prstGeom>
        </p:spPr>
        <p:txBody>
          <a:bodyPr vert="horz" wrap="square" lIns="0" tIns="12065" rIns="0" bIns="0" rtlCol="0">
            <a:spAutoFit/>
          </a:bodyPr>
          <a:lstStyle/>
          <a:p>
            <a:pPr marL="12700">
              <a:lnSpc>
                <a:spcPct val="100000"/>
              </a:lnSpc>
              <a:spcBef>
                <a:spcPts val="95"/>
              </a:spcBef>
              <a:tabLst>
                <a:tab pos="450850" algn="l"/>
              </a:tabLst>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r>
              <a:rPr sz="600" b="1" dirty="0">
                <a:solidFill>
                  <a:srgbClr val="0000DC"/>
                </a:solidFill>
                <a:latin typeface="Century Gothic"/>
                <a:cs typeface="Century Gothic"/>
              </a:rPr>
              <a:t>	</a:t>
            </a:r>
            <a:r>
              <a:rPr sz="600" b="1" spc="-10" dirty="0">
                <a:solidFill>
                  <a:srgbClr val="0000DC"/>
                </a:solidFill>
                <a:latin typeface="Century Gothic"/>
                <a:cs typeface="Century Gothic"/>
                <a:hlinkClick r:id="rId3" action="ppaction://hlinksldjump"/>
              </a:rPr>
              <a:t>Data</a:t>
            </a:r>
            <a:r>
              <a:rPr sz="600" b="1" spc="20" dirty="0">
                <a:solidFill>
                  <a:srgbClr val="0000DC"/>
                </a:solidFill>
                <a:latin typeface="Century Gothic"/>
                <a:cs typeface="Century Gothic"/>
                <a:hlinkClick r:id="rId3" action="ppaction://hlinksldjump"/>
              </a:rPr>
              <a:t> </a:t>
            </a:r>
            <a:r>
              <a:rPr sz="600" b="1" dirty="0">
                <a:solidFill>
                  <a:srgbClr val="0000DC"/>
                </a:solidFill>
                <a:latin typeface="Century Gothic"/>
                <a:cs typeface="Century Gothic"/>
                <a:hlinkClick r:id="rId3" action="ppaction://hlinksldjump"/>
              </a:rPr>
              <a:t>Flow</a:t>
            </a:r>
            <a:r>
              <a:rPr sz="600" b="1" spc="20"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Diagram</a:t>
            </a:r>
            <a:endParaRPr sz="600">
              <a:latin typeface="Century Gothic"/>
              <a:cs typeface="Century Gothic"/>
            </a:endParaRPr>
          </a:p>
        </p:txBody>
      </p:sp>
      <p:sp>
        <p:nvSpPr>
          <p:cNvPr id="3" name="object 3" descr="$PPTXTitle"/>
          <p:cNvSpPr txBox="1">
            <a:spLocks noGrp="1"/>
          </p:cNvSpPr>
          <p:nvPr>
            <p:ph type="title"/>
          </p:nvPr>
        </p:nvSpPr>
        <p:spPr>
          <a:xfrm>
            <a:off x="239293" y="106208"/>
            <a:ext cx="4951730" cy="744855"/>
          </a:xfrm>
          <a:prstGeom prst="rect">
            <a:avLst/>
          </a:prstGeom>
        </p:spPr>
        <p:txBody>
          <a:bodyPr vert="horz" wrap="square" lIns="0" tIns="109220" rIns="0" bIns="0" rtlCol="0">
            <a:spAutoFit/>
          </a:bodyPr>
          <a:lstStyle/>
          <a:p>
            <a:pPr marL="12700">
              <a:lnSpc>
                <a:spcPct val="100000"/>
              </a:lnSpc>
              <a:spcBef>
                <a:spcPts val="860"/>
              </a:spcBef>
            </a:pPr>
            <a:r>
              <a:rPr lang="en-US" spc="-114" dirty="0"/>
              <a:t>Data</a:t>
            </a:r>
            <a:r>
              <a:rPr lang="en-US" spc="-30" dirty="0"/>
              <a:t> </a:t>
            </a:r>
            <a:r>
              <a:rPr lang="en-US" spc="-20" dirty="0"/>
              <a:t>Flow</a:t>
            </a:r>
            <a:r>
              <a:rPr lang="en-US" spc="-30" dirty="0"/>
              <a:t> </a:t>
            </a:r>
            <a:r>
              <a:rPr lang="en-US" spc="-10" dirty="0"/>
              <a:t>Diagram</a:t>
            </a:r>
          </a:p>
          <a:p>
            <a:pPr marL="12700" marR="5080">
              <a:lnSpc>
                <a:spcPct val="102699"/>
              </a:lnSpc>
              <a:spcBef>
                <a:spcPts val="509"/>
              </a:spcBef>
            </a:pPr>
            <a:r>
              <a:rPr lang="en-US" sz="1100" spc="-95" dirty="0">
                <a:solidFill>
                  <a:srgbClr val="000000"/>
                </a:solidFill>
              </a:rPr>
              <a:t>Overview</a:t>
            </a:r>
            <a:r>
              <a:rPr lang="en-US" sz="1100" spc="-10" dirty="0">
                <a:solidFill>
                  <a:srgbClr val="000000"/>
                </a:solidFill>
              </a:rPr>
              <a:t> </a:t>
            </a:r>
            <a:r>
              <a:rPr lang="en-US" sz="1100" spc="-55" dirty="0">
                <a:solidFill>
                  <a:srgbClr val="000000"/>
                </a:solidFill>
              </a:rPr>
              <a:t>of</a:t>
            </a:r>
            <a:r>
              <a:rPr lang="en-US" sz="1100" spc="-10" dirty="0">
                <a:solidFill>
                  <a:srgbClr val="000000"/>
                </a:solidFill>
              </a:rPr>
              <a:t> </a:t>
            </a:r>
            <a:r>
              <a:rPr lang="en-US" sz="1100" spc="-65" dirty="0">
                <a:solidFill>
                  <a:srgbClr val="000000"/>
                </a:solidFill>
              </a:rPr>
              <a:t>the</a:t>
            </a:r>
            <a:r>
              <a:rPr lang="en-US" sz="1100" spc="-5" dirty="0">
                <a:solidFill>
                  <a:srgbClr val="000000"/>
                </a:solidFill>
              </a:rPr>
              <a:t> </a:t>
            </a:r>
            <a:r>
              <a:rPr lang="en-US" sz="1100" spc="-75" dirty="0">
                <a:solidFill>
                  <a:srgbClr val="000000"/>
                </a:solidFill>
              </a:rPr>
              <a:t>architecture.</a:t>
            </a:r>
            <a:r>
              <a:rPr lang="en-US" sz="1100" spc="40" dirty="0">
                <a:solidFill>
                  <a:srgbClr val="000000"/>
                </a:solidFill>
              </a:rPr>
              <a:t> </a:t>
            </a:r>
            <a:r>
              <a:rPr lang="en-US" sz="1100" spc="-90" dirty="0">
                <a:solidFill>
                  <a:srgbClr val="000000"/>
                </a:solidFill>
              </a:rPr>
              <a:t>Include</a:t>
            </a:r>
            <a:r>
              <a:rPr lang="en-US" sz="1100" spc="-10" dirty="0">
                <a:solidFill>
                  <a:srgbClr val="000000"/>
                </a:solidFill>
              </a:rPr>
              <a:t> </a:t>
            </a:r>
            <a:r>
              <a:rPr lang="en-US" sz="1100" spc="-65" dirty="0">
                <a:solidFill>
                  <a:srgbClr val="000000"/>
                </a:solidFill>
              </a:rPr>
              <a:t>the</a:t>
            </a:r>
            <a:r>
              <a:rPr lang="en-US" sz="1100" spc="-5" dirty="0">
                <a:solidFill>
                  <a:srgbClr val="000000"/>
                </a:solidFill>
              </a:rPr>
              <a:t> </a:t>
            </a:r>
            <a:r>
              <a:rPr lang="en-US" sz="1100" spc="-45" dirty="0">
                <a:solidFill>
                  <a:srgbClr val="000000"/>
                </a:solidFill>
              </a:rPr>
              <a:t>flow</a:t>
            </a:r>
            <a:r>
              <a:rPr lang="en-US" sz="1100" spc="-10" dirty="0">
                <a:solidFill>
                  <a:srgbClr val="000000"/>
                </a:solidFill>
              </a:rPr>
              <a:t> </a:t>
            </a:r>
            <a:r>
              <a:rPr lang="en-US" sz="1100" spc="-85" dirty="0">
                <a:solidFill>
                  <a:srgbClr val="000000"/>
                </a:solidFill>
              </a:rPr>
              <a:t>chart</a:t>
            </a:r>
            <a:r>
              <a:rPr lang="en-US" sz="1100" spc="-10" dirty="0">
                <a:solidFill>
                  <a:srgbClr val="000000"/>
                </a:solidFill>
              </a:rPr>
              <a:t> </a:t>
            </a:r>
            <a:r>
              <a:rPr lang="en-US" sz="1100" spc="-120" dirty="0">
                <a:solidFill>
                  <a:srgbClr val="000000"/>
                </a:solidFill>
              </a:rPr>
              <a:t>diagram</a:t>
            </a:r>
            <a:r>
              <a:rPr lang="en-US" sz="1100" spc="-5" dirty="0">
                <a:solidFill>
                  <a:srgbClr val="000000"/>
                </a:solidFill>
              </a:rPr>
              <a:t> </a:t>
            </a:r>
            <a:r>
              <a:rPr lang="en-US" sz="1100" spc="-120" dirty="0">
                <a:solidFill>
                  <a:srgbClr val="000000"/>
                </a:solidFill>
              </a:rPr>
              <a:t>created</a:t>
            </a:r>
            <a:r>
              <a:rPr lang="en-US" sz="1100" spc="-10" dirty="0">
                <a:solidFill>
                  <a:srgbClr val="000000"/>
                </a:solidFill>
              </a:rPr>
              <a:t> </a:t>
            </a:r>
            <a:r>
              <a:rPr lang="en-US" sz="1100" spc="-55" dirty="0">
                <a:solidFill>
                  <a:srgbClr val="000000"/>
                </a:solidFill>
              </a:rPr>
              <a:t>earlier.</a:t>
            </a:r>
            <a:r>
              <a:rPr lang="en-US" sz="1100" spc="40" dirty="0">
                <a:solidFill>
                  <a:srgbClr val="000000"/>
                </a:solidFill>
              </a:rPr>
              <a:t> </a:t>
            </a:r>
            <a:r>
              <a:rPr lang="en-US" sz="1100" spc="-30" dirty="0">
                <a:solidFill>
                  <a:srgbClr val="000000"/>
                </a:solidFill>
              </a:rPr>
              <a:t>Visual: </a:t>
            </a:r>
            <a:r>
              <a:rPr lang="en-US" sz="1100" spc="-90" dirty="0">
                <a:solidFill>
                  <a:srgbClr val="000000"/>
                </a:solidFill>
              </a:rPr>
              <a:t>Diagrams</a:t>
            </a:r>
            <a:r>
              <a:rPr lang="en-US" sz="1100" spc="-15" dirty="0">
                <a:solidFill>
                  <a:srgbClr val="000000"/>
                </a:solidFill>
              </a:rPr>
              <a:t> </a:t>
            </a:r>
            <a:r>
              <a:rPr lang="en-US" sz="1100" spc="-50" dirty="0">
                <a:solidFill>
                  <a:srgbClr val="000000"/>
                </a:solidFill>
              </a:rPr>
              <a:t>or</a:t>
            </a:r>
            <a:r>
              <a:rPr lang="en-US" sz="1100" spc="-10" dirty="0">
                <a:solidFill>
                  <a:srgbClr val="000000"/>
                </a:solidFill>
              </a:rPr>
              <a:t> </a:t>
            </a:r>
            <a:r>
              <a:rPr lang="en-US" sz="1100" spc="-80" dirty="0">
                <a:solidFill>
                  <a:srgbClr val="000000"/>
                </a:solidFill>
              </a:rPr>
              <a:t>architecture</a:t>
            </a:r>
            <a:r>
              <a:rPr lang="en-US" sz="1100" spc="-10" dirty="0">
                <a:solidFill>
                  <a:srgbClr val="000000"/>
                </a:solidFill>
              </a:rPr>
              <a:t> visuals.</a:t>
            </a:r>
            <a:endParaRPr lang="en-US" sz="1100" dirty="0"/>
          </a:p>
        </p:txBody>
      </p:sp>
      <p:sp>
        <p:nvSpPr>
          <p:cNvPr id="10" name="object 10"/>
          <p:cNvSpPr txBox="1"/>
          <p:nvPr/>
        </p:nvSpPr>
        <p:spPr>
          <a:xfrm>
            <a:off x="239293" y="3050083"/>
            <a:ext cx="1608455" cy="207645"/>
          </a:xfrm>
          <a:prstGeom prst="rect">
            <a:avLst/>
          </a:prstGeom>
        </p:spPr>
        <p:txBody>
          <a:bodyPr vert="horz" wrap="square" lIns="0" tIns="0" rIns="0" bIns="0" rtlCol="0">
            <a:spAutoFit/>
          </a:bodyPr>
          <a:lstStyle/>
          <a:p>
            <a:pPr marL="12700">
              <a:lnSpc>
                <a:spcPts val="1315"/>
              </a:lnSpc>
            </a:pPr>
            <a:r>
              <a:rPr sz="600" spc="-60" dirty="0">
                <a:solidFill>
                  <a:srgbClr val="0000DC"/>
                </a:solidFill>
                <a:latin typeface="Century Gothic"/>
                <a:cs typeface="Century Gothic"/>
              </a:rPr>
              <a:t>J.</a:t>
            </a:r>
            <a:r>
              <a:rPr sz="600" spc="10" dirty="0">
                <a:solidFill>
                  <a:srgbClr val="0000DC"/>
                </a:solidFill>
                <a:latin typeface="Century Gothic"/>
                <a:cs typeface="Century Gothic"/>
              </a:rPr>
              <a:t> </a:t>
            </a:r>
            <a:r>
              <a:rPr sz="600" spc="-20" dirty="0">
                <a:solidFill>
                  <a:srgbClr val="0000DC"/>
                </a:solidFill>
                <a:latin typeface="Century Gothic"/>
                <a:cs typeface="Century Gothic"/>
              </a:rPr>
              <a:t>Doe</a:t>
            </a:r>
            <a:r>
              <a:rPr sz="600"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b="1" dirty="0">
                <a:solidFill>
                  <a:srgbClr val="0000DC"/>
                </a:solidFill>
                <a:latin typeface="Century Gothic"/>
                <a:cs typeface="Century Gothic"/>
                <a:hlinkClick r:id="rId4" action="ppaction://hlinksldjump"/>
              </a:rPr>
              <a:t>A3-</a:t>
            </a:r>
            <a:r>
              <a:rPr sz="600" b="1" spc="-10" dirty="0">
                <a:solidFill>
                  <a:srgbClr val="0000DC"/>
                </a:solidFill>
                <a:latin typeface="Century Gothic"/>
                <a:cs typeface="Century Gothic"/>
                <a:hlinkClick r:id="rId4" action="ppaction://hlinksldjump"/>
              </a:rPr>
              <a:t>PS001-</a:t>
            </a:r>
            <a:r>
              <a:rPr sz="600" b="1" dirty="0">
                <a:solidFill>
                  <a:srgbClr val="0000DC"/>
                </a:solidFill>
                <a:latin typeface="Century Gothic"/>
                <a:cs typeface="Century Gothic"/>
                <a:hlinkClick r:id="rId4" action="ppaction://hlinksldjump"/>
              </a:rPr>
              <a:t>TC001</a:t>
            </a:r>
            <a:r>
              <a:rPr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sz="600" dirty="0">
                <a:solidFill>
                  <a:srgbClr val="0000DC"/>
                </a:solidFill>
                <a:latin typeface="Century Gothic"/>
                <a:cs typeface="Century Gothic"/>
              </a:rPr>
              <a:t>5,</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a:latin typeface="Century Gothic"/>
              <a:cs typeface="Century Gothic"/>
            </a:endParaRPr>
          </a:p>
        </p:txBody>
      </p:sp>
      <p:sp>
        <p:nvSpPr>
          <p:cNvPr id="11" name="object 11"/>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8</a:t>
            </a:fld>
            <a:r>
              <a:rPr spc="5" dirty="0"/>
              <a:t> </a:t>
            </a:r>
            <a:r>
              <a:rPr dirty="0"/>
              <a:t>/</a:t>
            </a:r>
            <a:r>
              <a:rPr spc="10" dirty="0"/>
              <a:t> </a:t>
            </a:r>
            <a:r>
              <a:rPr spc="-25" dirty="0"/>
              <a:t>11</a:t>
            </a:r>
          </a:p>
        </p:txBody>
      </p:sp>
      <p:pic>
        <p:nvPicPr>
          <p:cNvPr id="13" name="Picture 12">
            <a:extLst>
              <a:ext uri="{FF2B5EF4-FFF2-40B4-BE49-F238E27FC236}">
                <a16:creationId xmlns:a16="http://schemas.microsoft.com/office/drawing/2014/main" id="{6F9D41B2-DA70-3531-AFE2-830F5C1BC723}"/>
              </a:ext>
            </a:extLst>
          </p:cNvPr>
          <p:cNvPicPr>
            <a:picLocks noChangeAspect="1"/>
          </p:cNvPicPr>
          <p:nvPr/>
        </p:nvPicPr>
        <p:blipFill>
          <a:blip r:embed="rId5"/>
          <a:stretch>
            <a:fillRect/>
          </a:stretch>
        </p:blipFill>
        <p:spPr>
          <a:xfrm>
            <a:off x="350299" y="850428"/>
            <a:ext cx="5249169" cy="2197479"/>
          </a:xfrm>
          <a:prstGeom prst="rect">
            <a:avLst/>
          </a:prstGeom>
        </p:spPr>
      </p:pic>
    </p:spTree>
  </p:cSld>
  <p:clrMapOvr>
    <a:masterClrMapping/>
  </p:clrMapOvr>
  <p:transition>
    <p:cut/>
  </p:transition>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508224" y="16997"/>
            <a:ext cx="30480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2" action="ppaction://hlinksldjump"/>
              </a:rPr>
              <a:t>AIORI</a:t>
            </a:r>
            <a:r>
              <a:rPr sz="600" b="1" spc="40" dirty="0">
                <a:solidFill>
                  <a:srgbClr val="0000DC"/>
                </a:solidFill>
                <a:latin typeface="Century Gothic"/>
                <a:cs typeface="Century Gothic"/>
                <a:hlinkClick r:id="rId2" action="ppaction://hlinksldjump"/>
              </a:rPr>
              <a:t> </a:t>
            </a:r>
            <a:r>
              <a:rPr sz="600" b="1" spc="-50" dirty="0">
                <a:solidFill>
                  <a:srgbClr val="0000DC"/>
                </a:solidFill>
                <a:latin typeface="Century Gothic"/>
                <a:cs typeface="Century Gothic"/>
                <a:hlinkClick r:id="rId2" action="ppaction://hlinksldjump"/>
              </a:rPr>
              <a:t>3</a:t>
            </a:r>
            <a:endParaRPr sz="600">
              <a:latin typeface="Century Gothic"/>
              <a:cs typeface="Century Gothic"/>
            </a:endParaRPr>
          </a:p>
        </p:txBody>
      </p:sp>
      <p:sp>
        <p:nvSpPr>
          <p:cNvPr id="3" name="object 3"/>
          <p:cNvSpPr txBox="1"/>
          <p:nvPr/>
        </p:nvSpPr>
        <p:spPr>
          <a:xfrm>
            <a:off x="2947016" y="16997"/>
            <a:ext cx="830580" cy="116839"/>
          </a:xfrm>
          <a:prstGeom prst="rect">
            <a:avLst/>
          </a:prstGeom>
        </p:spPr>
        <p:txBody>
          <a:bodyPr vert="horz" wrap="square" lIns="0" tIns="12065" rIns="0" bIns="0" rtlCol="0">
            <a:spAutoFit/>
          </a:bodyPr>
          <a:lstStyle/>
          <a:p>
            <a:pPr marL="12700">
              <a:lnSpc>
                <a:spcPct val="100000"/>
              </a:lnSpc>
              <a:spcBef>
                <a:spcPts val="95"/>
              </a:spcBef>
            </a:pPr>
            <a:r>
              <a:rPr sz="600" b="1" dirty="0">
                <a:solidFill>
                  <a:srgbClr val="0000DC"/>
                </a:solidFill>
                <a:latin typeface="Century Gothic"/>
                <a:cs typeface="Century Gothic"/>
                <a:hlinkClick r:id="rId3" action="ppaction://hlinksldjump"/>
              </a:rPr>
              <a:t>Deployment</a:t>
            </a:r>
            <a:r>
              <a:rPr sz="600" b="1" spc="-35" dirty="0">
                <a:solidFill>
                  <a:srgbClr val="0000DC"/>
                </a:solidFill>
                <a:latin typeface="Century Gothic"/>
                <a:cs typeface="Century Gothic"/>
                <a:hlinkClick r:id="rId3" action="ppaction://hlinksldjump"/>
              </a:rPr>
              <a:t> </a:t>
            </a:r>
            <a:r>
              <a:rPr sz="600" b="1" spc="-10" dirty="0">
                <a:solidFill>
                  <a:srgbClr val="0000DC"/>
                </a:solidFill>
                <a:latin typeface="Century Gothic"/>
                <a:cs typeface="Century Gothic"/>
                <a:hlinkClick r:id="rId3" action="ppaction://hlinksldjump"/>
              </a:rPr>
              <a:t>Timeline</a:t>
            </a:r>
            <a:endParaRPr sz="600">
              <a:latin typeface="Century Gothic"/>
              <a:cs typeface="Century Gothic"/>
            </a:endParaRPr>
          </a:p>
        </p:txBody>
      </p:sp>
      <p:sp>
        <p:nvSpPr>
          <p:cNvPr id="4" name="object 4"/>
          <p:cNvSpPr txBox="1"/>
          <p:nvPr/>
        </p:nvSpPr>
        <p:spPr>
          <a:xfrm>
            <a:off x="239293" y="198244"/>
            <a:ext cx="1704975" cy="244475"/>
          </a:xfrm>
          <a:prstGeom prst="rect">
            <a:avLst/>
          </a:prstGeom>
        </p:spPr>
        <p:txBody>
          <a:bodyPr vert="horz" wrap="square" lIns="0" tIns="17145" rIns="0" bIns="0" rtlCol="0">
            <a:spAutoFit/>
          </a:bodyPr>
          <a:lstStyle/>
          <a:p>
            <a:pPr marL="12700">
              <a:lnSpc>
                <a:spcPct val="100000"/>
              </a:lnSpc>
              <a:spcBef>
                <a:spcPts val="135"/>
              </a:spcBef>
            </a:pPr>
            <a:r>
              <a:rPr sz="1400" b="1" spc="-95" dirty="0">
                <a:solidFill>
                  <a:srgbClr val="0000DC"/>
                </a:solidFill>
                <a:latin typeface="Century Gothic"/>
                <a:cs typeface="Century Gothic"/>
              </a:rPr>
              <a:t>Deployment</a:t>
            </a:r>
            <a:r>
              <a:rPr sz="1400" b="1" spc="-20" dirty="0">
                <a:solidFill>
                  <a:srgbClr val="0000DC"/>
                </a:solidFill>
                <a:latin typeface="Century Gothic"/>
                <a:cs typeface="Century Gothic"/>
              </a:rPr>
              <a:t> </a:t>
            </a:r>
            <a:r>
              <a:rPr sz="1400" b="1" spc="-10" dirty="0">
                <a:solidFill>
                  <a:srgbClr val="0000DC"/>
                </a:solidFill>
                <a:latin typeface="Century Gothic"/>
                <a:cs typeface="Century Gothic"/>
              </a:rPr>
              <a:t>Timeline</a:t>
            </a:r>
            <a:endParaRPr sz="1400">
              <a:latin typeface="Century Gothic"/>
              <a:cs typeface="Century Gothic"/>
            </a:endParaRPr>
          </a:p>
        </p:txBody>
      </p:sp>
      <p:sp>
        <p:nvSpPr>
          <p:cNvPr id="6" name="object 6"/>
          <p:cNvSpPr txBox="1"/>
          <p:nvPr/>
        </p:nvSpPr>
        <p:spPr>
          <a:xfrm>
            <a:off x="239293" y="3050083"/>
            <a:ext cx="1608455" cy="207645"/>
          </a:xfrm>
          <a:prstGeom prst="rect">
            <a:avLst/>
          </a:prstGeom>
        </p:spPr>
        <p:txBody>
          <a:bodyPr vert="horz" wrap="square" lIns="0" tIns="0" rIns="0" bIns="0" rtlCol="0">
            <a:spAutoFit/>
          </a:bodyPr>
          <a:lstStyle/>
          <a:p>
            <a:pPr marL="12700">
              <a:lnSpc>
                <a:spcPts val="1315"/>
              </a:lnSpc>
            </a:pPr>
            <a:r>
              <a:rPr sz="600" spc="-60" dirty="0">
                <a:solidFill>
                  <a:srgbClr val="0000DC"/>
                </a:solidFill>
                <a:latin typeface="Century Gothic"/>
                <a:cs typeface="Century Gothic"/>
              </a:rPr>
              <a:t>J.</a:t>
            </a:r>
            <a:r>
              <a:rPr sz="600" spc="10" dirty="0">
                <a:solidFill>
                  <a:srgbClr val="0000DC"/>
                </a:solidFill>
                <a:latin typeface="Century Gothic"/>
                <a:cs typeface="Century Gothic"/>
              </a:rPr>
              <a:t> </a:t>
            </a:r>
            <a:r>
              <a:rPr sz="600" spc="-20" dirty="0">
                <a:solidFill>
                  <a:srgbClr val="0000DC"/>
                </a:solidFill>
                <a:latin typeface="Century Gothic"/>
                <a:cs typeface="Century Gothic"/>
              </a:rPr>
              <a:t>Doe</a:t>
            </a:r>
            <a:r>
              <a:rPr sz="600"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b="1" dirty="0">
                <a:solidFill>
                  <a:srgbClr val="0000DC"/>
                </a:solidFill>
                <a:latin typeface="Century Gothic"/>
                <a:cs typeface="Century Gothic"/>
                <a:hlinkClick r:id="rId4" action="ppaction://hlinksldjump"/>
              </a:rPr>
              <a:t>A3-</a:t>
            </a:r>
            <a:r>
              <a:rPr sz="600" b="1" spc="-10" dirty="0">
                <a:solidFill>
                  <a:srgbClr val="0000DC"/>
                </a:solidFill>
                <a:latin typeface="Century Gothic"/>
                <a:cs typeface="Century Gothic"/>
                <a:hlinkClick r:id="rId4" action="ppaction://hlinksldjump"/>
              </a:rPr>
              <a:t>PS001-</a:t>
            </a:r>
            <a:r>
              <a:rPr sz="600" b="1" dirty="0">
                <a:solidFill>
                  <a:srgbClr val="0000DC"/>
                </a:solidFill>
                <a:latin typeface="Century Gothic"/>
                <a:cs typeface="Century Gothic"/>
                <a:hlinkClick r:id="rId4" action="ppaction://hlinksldjump"/>
              </a:rPr>
              <a:t>TC001</a:t>
            </a:r>
            <a:r>
              <a:rPr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sz="600" dirty="0">
                <a:solidFill>
                  <a:srgbClr val="0000DC"/>
                </a:solidFill>
                <a:latin typeface="Century Gothic"/>
                <a:cs typeface="Century Gothic"/>
              </a:rPr>
              <a:t>5,</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a:latin typeface="Century Gothic"/>
              <a:cs typeface="Century Gothic"/>
            </a:endParaRPr>
          </a:p>
        </p:txBody>
      </p:sp>
      <p:sp>
        <p:nvSpPr>
          <p:cNvPr id="7" name="object 7"/>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9</a:t>
            </a:fld>
            <a:r>
              <a:rPr spc="5" dirty="0"/>
              <a:t> </a:t>
            </a:r>
            <a:r>
              <a:rPr dirty="0"/>
              <a:t>/</a:t>
            </a:r>
            <a:r>
              <a:rPr spc="10" dirty="0"/>
              <a:t> </a:t>
            </a:r>
            <a:r>
              <a:rPr spc="-25" dirty="0"/>
              <a:t>11</a:t>
            </a:r>
          </a:p>
        </p:txBody>
      </p:sp>
      <p:pic>
        <p:nvPicPr>
          <p:cNvPr id="9" name="Picture 8">
            <a:extLst>
              <a:ext uri="{FF2B5EF4-FFF2-40B4-BE49-F238E27FC236}">
                <a16:creationId xmlns:a16="http://schemas.microsoft.com/office/drawing/2014/main" id="{F8F5CB75-ED12-0DD8-FC0F-FA987DE67F7C}"/>
              </a:ext>
            </a:extLst>
          </p:cNvPr>
          <p:cNvPicPr>
            <a:picLocks noChangeAspect="1"/>
          </p:cNvPicPr>
          <p:nvPr/>
        </p:nvPicPr>
        <p:blipFill>
          <a:blip r:embed="rId5"/>
          <a:stretch>
            <a:fillRect/>
          </a:stretch>
        </p:blipFill>
        <p:spPr>
          <a:xfrm>
            <a:off x="371449" y="442719"/>
            <a:ext cx="4883150" cy="2604347"/>
          </a:xfrm>
          <a:prstGeom prst="rect">
            <a:avLst/>
          </a:prstGeom>
        </p:spPr>
      </p:pic>
    </p:spTree>
  </p:cSld>
  <p:clrMapOvr>
    <a:masterClrMapping/>
  </p:clrMapOvr>
  <p:transition>
    <p:cut/>
  </p:transition>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312885" y="16997"/>
            <a:ext cx="500380" cy="116839"/>
          </a:xfrm>
          <a:prstGeom prst="rect">
            <a:avLst/>
          </a:prstGeom>
        </p:spPr>
        <p:txBody>
          <a:bodyPr vert="horz" wrap="square" lIns="0" tIns="12065" rIns="0" bIns="0" rtlCol="0">
            <a:spAutoFit/>
          </a:bodyPr>
          <a:lstStyle/>
          <a:p>
            <a:pPr marL="12700">
              <a:lnSpc>
                <a:spcPct val="100000"/>
              </a:lnSpc>
              <a:spcBef>
                <a:spcPts val="95"/>
              </a:spcBef>
            </a:pPr>
            <a:r>
              <a:rPr sz="600" b="1" spc="-10" dirty="0">
                <a:solidFill>
                  <a:srgbClr val="0000DC"/>
                </a:solidFill>
                <a:latin typeface="Century Gothic"/>
                <a:cs typeface="Century Gothic"/>
                <a:hlinkClick r:id="rId2" action="ppaction://hlinksldjump"/>
              </a:rPr>
              <a:t>Bibliography</a:t>
            </a:r>
            <a:endParaRPr sz="600">
              <a:latin typeface="Century Gothic"/>
              <a:cs typeface="Century Gothic"/>
            </a:endParaRPr>
          </a:p>
        </p:txBody>
      </p:sp>
      <p:sp>
        <p:nvSpPr>
          <p:cNvPr id="3" name="object 3" descr="$PPTXTitle"/>
          <p:cNvSpPr txBox="1">
            <a:spLocks noGrp="1"/>
          </p:cNvSpPr>
          <p:nvPr>
            <p:ph type="title"/>
          </p:nvPr>
        </p:nvSpPr>
        <p:spPr>
          <a:prstGeom prst="rect">
            <a:avLst/>
          </a:prstGeom>
        </p:spPr>
        <p:txBody>
          <a:bodyPr vert="horz" wrap="square" lIns="0" tIns="17145" rIns="0" bIns="0" rtlCol="0">
            <a:spAutoFit/>
          </a:bodyPr>
          <a:lstStyle/>
          <a:p>
            <a:pPr marL="12700">
              <a:lnSpc>
                <a:spcPct val="100000"/>
              </a:lnSpc>
              <a:spcBef>
                <a:spcPts val="135"/>
              </a:spcBef>
            </a:pPr>
            <a:r>
              <a:rPr spc="-65" dirty="0"/>
              <a:t>Bibliography</a:t>
            </a:r>
            <a:r>
              <a:rPr spc="-20" dirty="0"/>
              <a:t> </a:t>
            </a:r>
            <a:r>
              <a:rPr spc="-50" dirty="0"/>
              <a:t>I</a:t>
            </a:r>
          </a:p>
        </p:txBody>
      </p:sp>
      <p:sp>
        <p:nvSpPr>
          <p:cNvPr id="4" name="object 4"/>
          <p:cNvSpPr txBox="1">
            <a:spLocks noGrp="1"/>
          </p:cNvSpPr>
          <p:nvPr>
            <p:ph type="body" idx="1"/>
          </p:nvPr>
        </p:nvSpPr>
        <p:spPr>
          <a:xfrm>
            <a:off x="239293" y="596822"/>
            <a:ext cx="5273675" cy="1556195"/>
          </a:xfrm>
          <a:prstGeom prst="rect">
            <a:avLst/>
          </a:prstGeom>
        </p:spPr>
        <p:txBody>
          <a:bodyPr vert="horz" wrap="square" lIns="0" tIns="6985" rIns="0" bIns="0" rtlCol="0">
            <a:spAutoFit/>
          </a:bodyPr>
          <a:lstStyle/>
          <a:p>
            <a:pPr marL="12065" marR="5080">
              <a:lnSpc>
                <a:spcPct val="100000"/>
              </a:lnSpc>
              <a:spcBef>
                <a:spcPts val="55"/>
              </a:spcBef>
              <a:buClr>
                <a:srgbClr val="0000DC"/>
              </a:buClr>
              <a:tabLst>
                <a:tab pos="310515" algn="l"/>
              </a:tabLst>
            </a:pPr>
            <a:r>
              <a:rPr lang="en-US" b="1" dirty="0"/>
              <a:t>Conclusion</a:t>
            </a:r>
            <a:r>
              <a:rPr lang="en-US" dirty="0"/>
              <a:t>:</a:t>
            </a:r>
          </a:p>
          <a:p>
            <a:pPr marL="12065" marR="5080">
              <a:lnSpc>
                <a:spcPct val="100000"/>
              </a:lnSpc>
              <a:spcBef>
                <a:spcPts val="55"/>
              </a:spcBef>
              <a:buClr>
                <a:srgbClr val="0000DC"/>
              </a:buClr>
              <a:tabLst>
                <a:tab pos="310515" algn="l"/>
              </a:tabLst>
            </a:pPr>
            <a:r>
              <a:rPr lang="en-US" dirty="0"/>
              <a:t> </a:t>
            </a:r>
          </a:p>
          <a:p>
            <a:pPr marL="12065" marR="5080">
              <a:lnSpc>
                <a:spcPct val="100000"/>
              </a:lnSpc>
              <a:spcBef>
                <a:spcPts val="55"/>
              </a:spcBef>
              <a:buClr>
                <a:srgbClr val="0000DC"/>
              </a:buClr>
              <a:tabLst>
                <a:tab pos="310515" algn="l"/>
              </a:tabLst>
            </a:pPr>
            <a:r>
              <a:rPr lang="en-US" dirty="0"/>
              <a:t>NETSCOPE proposes a practical way to understand IPv6 readiness beyond a single DNS lookup or connectivity test. By organizing observable protocol checks, dependency context, evidence, and remediation guidance into one workflow, it aims to help developers investigate potential problems more efficiently. Its central design principle is transparency: every important finding should explain what was checked, what was observed, what remains uncertain, and what action the user can take next.</a:t>
            </a:r>
            <a:endParaRPr spc="-25" dirty="0"/>
          </a:p>
        </p:txBody>
      </p:sp>
      <p:sp>
        <p:nvSpPr>
          <p:cNvPr id="5" name="object 5"/>
          <p:cNvSpPr txBox="1"/>
          <p:nvPr/>
        </p:nvSpPr>
        <p:spPr>
          <a:xfrm>
            <a:off x="239293" y="3050083"/>
            <a:ext cx="1608455" cy="207645"/>
          </a:xfrm>
          <a:prstGeom prst="rect">
            <a:avLst/>
          </a:prstGeom>
        </p:spPr>
        <p:txBody>
          <a:bodyPr vert="horz" wrap="square" lIns="0" tIns="0" rIns="0" bIns="0" rtlCol="0">
            <a:spAutoFit/>
          </a:bodyPr>
          <a:lstStyle/>
          <a:p>
            <a:pPr marL="12700">
              <a:lnSpc>
                <a:spcPts val="1315"/>
              </a:lnSpc>
            </a:pPr>
            <a:r>
              <a:rPr sz="600" spc="-60" dirty="0">
                <a:solidFill>
                  <a:srgbClr val="0000DC"/>
                </a:solidFill>
                <a:latin typeface="Century Gothic"/>
                <a:cs typeface="Century Gothic"/>
              </a:rPr>
              <a:t>J.</a:t>
            </a:r>
            <a:r>
              <a:rPr sz="600" spc="10" dirty="0">
                <a:solidFill>
                  <a:srgbClr val="0000DC"/>
                </a:solidFill>
                <a:latin typeface="Century Gothic"/>
                <a:cs typeface="Century Gothic"/>
              </a:rPr>
              <a:t> </a:t>
            </a:r>
            <a:r>
              <a:rPr sz="600" spc="-20" dirty="0">
                <a:solidFill>
                  <a:srgbClr val="0000DC"/>
                </a:solidFill>
                <a:latin typeface="Century Gothic"/>
                <a:cs typeface="Century Gothic"/>
              </a:rPr>
              <a:t>Doe</a:t>
            </a:r>
            <a:r>
              <a:rPr sz="600"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b="1" dirty="0">
                <a:solidFill>
                  <a:srgbClr val="0000DC"/>
                </a:solidFill>
                <a:latin typeface="Century Gothic"/>
                <a:cs typeface="Century Gothic"/>
                <a:hlinkClick r:id="rId3" action="ppaction://hlinksldjump"/>
              </a:rPr>
              <a:t>A3-</a:t>
            </a:r>
            <a:r>
              <a:rPr sz="600" b="1" spc="-10" dirty="0">
                <a:solidFill>
                  <a:srgbClr val="0000DC"/>
                </a:solidFill>
                <a:latin typeface="Century Gothic"/>
                <a:cs typeface="Century Gothic"/>
                <a:hlinkClick r:id="rId3" action="ppaction://hlinksldjump"/>
              </a:rPr>
              <a:t>PS001-</a:t>
            </a:r>
            <a:r>
              <a:rPr sz="600" b="1" dirty="0">
                <a:solidFill>
                  <a:srgbClr val="0000DC"/>
                </a:solidFill>
                <a:latin typeface="Century Gothic"/>
                <a:cs typeface="Century Gothic"/>
                <a:hlinkClick r:id="rId3" action="ppaction://hlinksldjump"/>
              </a:rPr>
              <a:t>TC001</a:t>
            </a:r>
            <a:r>
              <a:rPr sz="600" b="1" spc="10" dirty="0">
                <a:solidFill>
                  <a:srgbClr val="0000DC"/>
                </a:solidFill>
                <a:latin typeface="Century Gothic"/>
                <a:cs typeface="Century Gothic"/>
              </a:rPr>
              <a:t> </a:t>
            </a:r>
            <a:r>
              <a:rPr sz="2100" i="1" baseline="-7936" dirty="0">
                <a:solidFill>
                  <a:srgbClr val="0000DC"/>
                </a:solidFill>
                <a:latin typeface="Arial Narrow"/>
                <a:cs typeface="Arial Narrow"/>
              </a:rPr>
              <a:t>·</a:t>
            </a:r>
            <a:r>
              <a:rPr sz="2100" i="1" spc="-202" baseline="-7936" dirty="0">
                <a:solidFill>
                  <a:srgbClr val="0000DC"/>
                </a:solidFill>
                <a:latin typeface="Arial Narrow"/>
                <a:cs typeface="Arial Narrow"/>
              </a:rPr>
              <a:t> </a:t>
            </a:r>
            <a:r>
              <a:rPr sz="600" spc="-20" dirty="0">
                <a:solidFill>
                  <a:srgbClr val="0000DC"/>
                </a:solidFill>
                <a:latin typeface="Century Gothic"/>
                <a:cs typeface="Century Gothic"/>
              </a:rPr>
              <a:t>October</a:t>
            </a:r>
            <a:r>
              <a:rPr sz="600" spc="10" dirty="0">
                <a:solidFill>
                  <a:srgbClr val="0000DC"/>
                </a:solidFill>
                <a:latin typeface="Century Gothic"/>
                <a:cs typeface="Century Gothic"/>
              </a:rPr>
              <a:t> </a:t>
            </a:r>
            <a:r>
              <a:rPr sz="600" dirty="0">
                <a:solidFill>
                  <a:srgbClr val="0000DC"/>
                </a:solidFill>
                <a:latin typeface="Century Gothic"/>
                <a:cs typeface="Century Gothic"/>
              </a:rPr>
              <a:t>5,</a:t>
            </a:r>
            <a:r>
              <a:rPr sz="600" spc="10" dirty="0">
                <a:solidFill>
                  <a:srgbClr val="0000DC"/>
                </a:solidFill>
                <a:latin typeface="Century Gothic"/>
                <a:cs typeface="Century Gothic"/>
              </a:rPr>
              <a:t> </a:t>
            </a:r>
            <a:r>
              <a:rPr sz="600" spc="-20" dirty="0">
                <a:solidFill>
                  <a:srgbClr val="0000DC"/>
                </a:solidFill>
                <a:latin typeface="Century Gothic"/>
                <a:cs typeface="Century Gothic"/>
              </a:rPr>
              <a:t>2026</a:t>
            </a:r>
            <a:endParaRPr sz="600">
              <a:latin typeface="Century Gothic"/>
              <a:cs typeface="Century Gothic"/>
            </a:endParaRPr>
          </a:p>
        </p:txBody>
      </p:sp>
      <p:sp>
        <p:nvSpPr>
          <p:cNvPr id="6" name="object 6"/>
          <p:cNvSpPr txBox="1">
            <a:spLocks noGrp="1"/>
          </p:cNvSpPr>
          <p:nvPr>
            <p:ph type="sldNum" sz="quarter" idx="7"/>
          </p:nvPr>
        </p:nvSpPr>
        <p:spPr>
          <a:prstGeom prst="rect">
            <a:avLst/>
          </a:prstGeom>
        </p:spPr>
        <p:txBody>
          <a:bodyPr vert="horz" wrap="square" lIns="0" tIns="12065" rIns="0" bIns="0" rtlCol="0">
            <a:spAutoFit/>
          </a:bodyPr>
          <a:lstStyle/>
          <a:p>
            <a:pPr marL="17780">
              <a:lnSpc>
                <a:spcPct val="100000"/>
              </a:lnSpc>
              <a:spcBef>
                <a:spcPts val="95"/>
              </a:spcBef>
            </a:pPr>
            <a:fld id="{81D60167-4931-47E6-BA6A-407CBD079E47}" type="slidenum">
              <a:rPr dirty="0"/>
              <a:t>10</a:t>
            </a:fld>
            <a:r>
              <a:rPr spc="5" dirty="0"/>
              <a:t> </a:t>
            </a:r>
            <a:r>
              <a:rPr dirty="0"/>
              <a:t>/</a:t>
            </a:r>
            <a:r>
              <a:rPr spc="10" dirty="0"/>
              <a:t> </a:t>
            </a:r>
            <a:r>
              <a:rPr spc="-25" dirty="0"/>
              <a:t>11</a:t>
            </a:r>
          </a:p>
        </p:txBody>
      </p:sp>
    </p:spTree>
  </p:cSld>
  <p:clrMapOvr>
    <a:masterClrMapping/>
  </p:clrMapOvr>
  <p:transition>
    <p:cut/>
  </p:transition>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p:nvPr/>
        </p:nvSpPr>
        <p:spPr>
          <a:xfrm>
            <a:off x="2044700" y="1393825"/>
            <a:ext cx="1771014" cy="319318"/>
          </a:xfrm>
          <a:prstGeom prst="rect">
            <a:avLst/>
          </a:prstGeom>
        </p:spPr>
        <p:txBody>
          <a:bodyPr vert="horz" wrap="square" lIns="0" tIns="11430" rIns="0" bIns="0" rtlCol="0">
            <a:spAutoFit/>
          </a:bodyPr>
          <a:lstStyle/>
          <a:p>
            <a:pPr marL="12700">
              <a:lnSpc>
                <a:spcPct val="100000"/>
              </a:lnSpc>
              <a:spcBef>
                <a:spcPts val="90"/>
              </a:spcBef>
            </a:pPr>
            <a:r>
              <a:rPr sz="2000" spc="-60" dirty="0">
                <a:latin typeface="Century Gothic"/>
                <a:cs typeface="Century Gothic"/>
              </a:rPr>
              <a:t>Thank</a:t>
            </a:r>
            <a:r>
              <a:rPr sz="2000" dirty="0">
                <a:latin typeface="Century Gothic"/>
                <a:cs typeface="Century Gothic"/>
              </a:rPr>
              <a:t> </a:t>
            </a:r>
            <a:r>
              <a:rPr sz="2000" spc="-130" dirty="0">
                <a:latin typeface="Century Gothic"/>
                <a:cs typeface="Century Gothic"/>
              </a:rPr>
              <a:t>You</a:t>
            </a:r>
            <a:r>
              <a:rPr sz="2000" dirty="0">
                <a:latin typeface="Century Gothic"/>
                <a:cs typeface="Century Gothic"/>
              </a:rPr>
              <a:t> </a:t>
            </a:r>
          </a:p>
        </p:txBody>
      </p:sp>
    </p:spTree>
  </p:cSld>
  <p:clrMapOvr>
    <a:masterClrMapping/>
  </p:clrMapOvr>
  <p:transition>
    <p:cut/>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TotalTime>
  <Words>1058</Words>
  <Application>Microsoft Office PowerPoint</Application>
  <PresentationFormat>Custom</PresentationFormat>
  <Paragraphs>66</Paragraphs>
  <Slides>11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 Narrow</vt:lpstr>
      <vt:lpstr>Century Gothic</vt:lpstr>
      <vt:lpstr>Office Theme</vt:lpstr>
      <vt:lpstr>A3-PS027-TC489 IPv6 Website and Dependency Readiness Auditor </vt:lpstr>
      <vt:lpstr>PowerPoint Presentation</vt:lpstr>
      <vt:lpstr>PowerPoint Presentation</vt:lpstr>
      <vt:lpstr>PowerPoint Presentation</vt:lpstr>
      <vt:lpstr>PowerPoint Presentation</vt:lpstr>
      <vt:lpstr>PowerPoint Presentation</vt:lpstr>
      <vt:lpstr>PowerPoint Presentation</vt:lpstr>
      <vt:lpstr>Data Flow Diagram Overview of the architecture. Include the flow chart diagram created earlier. Visual: Diagrams or architecture visuals.</vt:lpstr>
      <vt:lpstr>PowerPoint Presentation</vt:lpstr>
      <vt:lpstr>Bibliography I</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A3-PS001-TC001 - Android Ransomware-like Activity Early Warning in a Controlled Lab</dc:title>
  <dc:subject>Presentation Subject</dc:subject>
  <dc:creator>John Doe, personal-id@some.mail.com</dc:creator>
  <cp:keywords>the, presentation, keywords</cp:keywords>
  <cp:lastModifiedBy>Nakshathra M</cp:lastModifiedBy>
  <cp:revision>5</cp:revision>
  <dcterms:created xsi:type="dcterms:W3CDTF">2026-10-14T18:15:31Z</dcterms:created>
  <dcterms:modified xsi:type="dcterms:W3CDTF">2026-10-14T18:34:28Z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verter">
    <vt:lpwstr>SolidFramework v10.0.20290.1</vt:lpwstr>
  </property>
  <property fmtid="{D5CDD505-2E9C-101B-9397-08002B2CF9AE}" pid="3" name="Created">
    <vt:filetime>2026-10-05T00:00:00Z</vt:filetime>
  </property>
  <property fmtid="{D5CDD505-2E9C-101B-9397-08002B2CF9AE}" pid="4" name="Creator">
    <vt:lpwstr>LaTeX with Beamer class</vt:lpwstr>
  </property>
  <property fmtid="{D5CDD505-2E9C-101B-9397-08002B2CF9AE}" pid="5" name="LastSaved">
    <vt:filetime>2026-10-14T00:00:00Z</vt:filetime>
  </property>
  <property fmtid="{D5CDD505-2E9C-101B-9397-08002B2CF9AE}" pid="6" name="PTEX.Fullbanner">
    <vt:lpwstr>This is pdfTeX, Version 3.141592653-2.6-1.40.29 (TeX Live 2026) kpathsea version 6.4.2</vt:lpwstr>
  </property>
  <property fmtid="{D5CDD505-2E9C-101B-9397-08002B2CF9AE}" pid="7" name="Producer">
    <vt:lpwstr>pdfTeX-1.40.29</vt:lpwstr>
  </property>
</Properties>
</file>